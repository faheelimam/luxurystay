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Prata"/>
      <p:regular r:id="rId201314"/>
    </p:embeddedFont>
    <p:embeddedFont>
      <p:font typeface="Raleway Bold"/>
      <p:regular r:id="rId201315"/>
    </p:embeddedFont>
    <p:embeddedFont>
      <p:font typeface="Raleway"/>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B1C1D"/>
          </a:solidFill>
          <a:ln/>
        </p:spPr>
      </p:sp>
      <p:sp>
        <p:nvSpPr>
          <p:cNvPr id="4" name="Shape 1"/>
          <p:cNvSpPr/>
          <p:nvPr/>
        </p:nvSpPr>
        <p:spPr>
          <a:xfrm>
            <a:off x="0" y="0"/>
            <a:ext cx="12191695" cy="6858000"/>
          </a:xfrm>
          <a:prstGeom prst="rect">
            <a:avLst/>
          </a:prstGeom>
          <a:solidFill>
            <a:srgbClr val="DFDFE0"/>
          </a:solidFill>
          <a:ln/>
        </p:spPr>
      </p:sp>
      <p:pic>
        <p:nvPicPr>
          <p:cNvPr id="5"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3.png"/><Relationship Id="rId6" Type="http://schemas.openxmlformats.org/officeDocument/2006/relationships/image" Target="../media/image-7-4.svg"/><Relationship Id="rId7" Type="http://schemas.openxmlformats.org/officeDocument/2006/relationships/image" Target="../media/image-7-3.png"/><Relationship Id="rId8" Type="http://schemas.openxmlformats.org/officeDocument/2006/relationships/image" Target="../media/image-7-4.svg"/><Relationship Id="rId9" Type="http://schemas.openxmlformats.org/officeDocument/2006/relationships/image" Target="../media/image-7-3.png"/><Relationship Id="rId10" Type="http://schemas.openxmlformats.org/officeDocument/2006/relationships/image" Target="../media/image-7-4.sv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2.png"/><Relationship Id="rId11" Type="http://schemas.openxmlformats.org/officeDocument/2006/relationships/image" Target="../media/image-9-3.svg"/><Relationship Id="rId12" Type="http://schemas.openxmlformats.org/officeDocument/2006/relationships/image" Target="../media/image-9-12.png"/><Relationship Id="rId13" Type="http://schemas.openxmlformats.org/officeDocument/2006/relationships/image" Target="../media/image-9-13.svg"/><Relationship Id="rId14" Type="http://schemas.openxmlformats.org/officeDocument/2006/relationships/slideLayout" Target="../slideLayouts/slideLayout3.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0012" y="568226"/>
            <a:ext cx="10751670" cy="552450"/>
          </a:xfrm>
          <a:prstGeom prst="rect">
            <a:avLst/>
          </a:prstGeom>
          <a:noFill/>
          <a:ln/>
        </p:spPr>
        <p:txBody>
          <a:bodyPr wrap="none" lIns="0" tIns="0" rIns="0" bIns="0" rtlCol="0" anchor="t"/>
          <a:lstStyle/>
          <a:p>
            <a:pPr algn="ctr" indent="0" marL="0">
              <a:lnSpc>
                <a:spcPct val="104000"/>
              </a:lnSpc>
              <a:buNone/>
            </a:pPr>
            <a:r>
              <a:rPr lang="en-US" sz="3450" dirty="0">
                <a:solidFill>
                  <a:srgbClr val="F2E782"/>
                </a:solidFill>
                <a:latin typeface="Prata" pitchFamily="34" charset="0"/>
                <a:ea typeface="Prata" pitchFamily="34" charset="-122"/>
                <a:cs typeface="Prata" pitchFamily="34" charset="-120"/>
              </a:rPr>
              <a:t>MERN Hotel Management System</a:t>
            </a:r>
            <a:endParaRPr lang="en-US" sz="3450" dirty="0"/>
          </a:p>
        </p:txBody>
      </p:sp>
      <p:sp>
        <p:nvSpPr>
          <p:cNvPr id="3" name="Text 1"/>
          <p:cNvSpPr/>
          <p:nvPr/>
        </p:nvSpPr>
        <p:spPr>
          <a:xfrm>
            <a:off x="720012" y="1181398"/>
            <a:ext cx="10751670" cy="276324"/>
          </a:xfrm>
          <a:prstGeom prst="rect">
            <a:avLst/>
          </a:prstGeom>
          <a:noFill/>
          <a:ln/>
        </p:spPr>
        <p:txBody>
          <a:bodyPr wrap="none" lIns="0" tIns="0" rIns="0" bIns="0" rtlCol="0" anchor="t"/>
          <a:lstStyle/>
          <a:p>
            <a:pPr algn="ctr" indent="0" marL="0">
              <a:lnSpc>
                <a:spcPct val="104000"/>
              </a:lnSpc>
              <a:buNone/>
            </a:pPr>
            <a:r>
              <a:rPr lang="en-US" sz="1700" dirty="0">
                <a:solidFill>
                  <a:srgbClr val="F2E782"/>
                </a:solidFill>
                <a:latin typeface="Prata" pitchFamily="34" charset="0"/>
                <a:ea typeface="Prata" pitchFamily="34" charset="-122"/>
                <a:cs typeface="Prata" pitchFamily="34" charset="-120"/>
              </a:rPr>
              <a:t>Software Requirements Specification — LuxuryStay Hospitality</a:t>
            </a:r>
            <a:endParaRPr lang="en-US" sz="1700" dirty="0"/>
          </a:p>
        </p:txBody>
      </p:sp>
      <p:sp>
        <p:nvSpPr>
          <p:cNvPr id="4" name="Text 2"/>
          <p:cNvSpPr/>
          <p:nvPr/>
        </p:nvSpPr>
        <p:spPr>
          <a:xfrm>
            <a:off x="415220" y="1685627"/>
            <a:ext cx="11361255" cy="262930"/>
          </a:xfrm>
          <a:prstGeom prst="rect">
            <a:avLst/>
          </a:prstGeom>
          <a:noFill/>
          <a:ln/>
        </p:spPr>
        <p:txBody>
          <a:bodyPr wrap="none" lIns="0" tIns="0" rIns="0" bIns="0" rtlCol="0" anchor="t"/>
          <a:lstStyle/>
          <a:p>
            <a:pPr algn="ctr" indent="0" marL="0">
              <a:lnSpc>
                <a:spcPct val="124000"/>
              </a:lnSpc>
              <a:buNone/>
            </a:pPr>
            <a:r>
              <a:rPr lang="en-US" sz="1350" b="1" dirty="0">
                <a:solidFill>
                  <a:srgbClr val="CFCBBF"/>
                </a:solidFill>
                <a:latin typeface="Raleway Bold" pitchFamily="34" charset="0"/>
                <a:ea typeface="Raleway Bold" pitchFamily="34" charset="-122"/>
                <a:cs typeface="Raleway Bold" pitchFamily="34" charset="-120"/>
              </a:rPr>
              <a:t>Version 1.0</a:t>
            </a:r>
            <a:pPr algn="ctr" indent="0" marL="0">
              <a:lnSpc>
                <a:spcPct val="124000"/>
              </a:lnSpc>
              <a:buNone/>
            </a:pPr>
            <a:r>
              <a:rPr lang="en-US" sz="1350" dirty="0">
                <a:solidFill>
                  <a:srgbClr val="CFCBBF"/>
                </a:solidFill>
                <a:latin typeface="Raleway" pitchFamily="34" charset="0"/>
                <a:ea typeface="Raleway" pitchFamily="34" charset="-122"/>
                <a:cs typeface="Raleway" pitchFamily="34" charset="-120"/>
              </a:rPr>
              <a:t> · Hotel Management System · Complete Technical Specification</a:t>
            </a:r>
            <a:endParaRPr lang="en-US" sz="1350" dirty="0"/>
          </a:p>
        </p:txBody>
      </p:sp>
      <p:sp>
        <p:nvSpPr>
          <p:cNvPr id="5" name="Shape 3"/>
          <p:cNvSpPr/>
          <p:nvPr/>
        </p:nvSpPr>
        <p:spPr>
          <a:xfrm>
            <a:off x="592718" y="2119412"/>
            <a:ext cx="5414728" cy="2031504"/>
          </a:xfrm>
          <a:prstGeom prst="roundRect">
            <a:avLst>
              <a:gd name="adj" fmla="val 1305"/>
            </a:avLst>
          </a:prstGeom>
          <a:solidFill>
            <a:srgbClr val="FCEC99"/>
          </a:solidFill>
          <a:ln/>
        </p:spPr>
      </p:sp>
      <p:sp>
        <p:nvSpPr>
          <p:cNvPr id="6" name="Text 4"/>
          <p:cNvSpPr/>
          <p:nvPr/>
        </p:nvSpPr>
        <p:spPr>
          <a:xfrm>
            <a:off x="769521" y="2271316"/>
            <a:ext cx="5061121" cy="276324"/>
          </a:xfrm>
          <a:prstGeom prst="rect">
            <a:avLst/>
          </a:prstGeom>
          <a:noFill/>
          <a:ln/>
        </p:spPr>
        <p:txBody>
          <a:bodyPr wrap="none" lIns="0" tIns="0" rIns="0" bIns="0" rtlCol="0" anchor="t"/>
          <a:lstStyle/>
          <a:p>
            <a:pPr algn="l" indent="0" marL="0">
              <a:lnSpc>
                <a:spcPct val="104000"/>
              </a:lnSpc>
              <a:buNone/>
            </a:pPr>
            <a:r>
              <a:rPr lang="en-US" sz="1700" dirty="0">
                <a:solidFill>
                  <a:srgbClr val="000000"/>
                </a:solidFill>
                <a:latin typeface="Prata" pitchFamily="34" charset="0"/>
                <a:ea typeface="Prata" pitchFamily="34" charset="-122"/>
                <a:cs typeface="Prata" pitchFamily="34" charset="-120"/>
              </a:rPr>
              <a:t>Document Purpose</a:t>
            </a:r>
            <a:endParaRPr lang="en-US" sz="1700" dirty="0"/>
          </a:p>
        </p:txBody>
      </p:sp>
      <p:sp>
        <p:nvSpPr>
          <p:cNvPr id="7" name="Text 5"/>
          <p:cNvSpPr/>
          <p:nvPr/>
        </p:nvSpPr>
        <p:spPr>
          <a:xfrm>
            <a:off x="769521" y="2699544"/>
            <a:ext cx="5061121" cy="1314648"/>
          </a:xfrm>
          <a:prstGeom prst="rect">
            <a:avLst/>
          </a:prstGeom>
          <a:noFill/>
          <a:ln/>
        </p:spPr>
        <p:txBody>
          <a:bodyPr wrap="square" lIns="0" tIns="0" rIns="0" bIns="0" rtlCol="0" anchor="t">
            <a:normAutofit/>
          </a:bodyPr>
          <a:lstStyle/>
          <a:p>
            <a:pPr algn="l" indent="0" marL="0">
              <a:lnSpc>
                <a:spcPct val="124000"/>
              </a:lnSpc>
              <a:buNone/>
            </a:pPr>
            <a:r>
              <a:rPr lang="en-US" sz="1350" dirty="0">
                <a:solidFill>
                  <a:srgbClr val="000000"/>
                </a:solidFill>
                <a:latin typeface="Raleway" pitchFamily="34" charset="0"/>
                <a:ea typeface="Raleway" pitchFamily="34" charset="-122"/>
                <a:cs typeface="Raleway" pitchFamily="34" charset="-120"/>
              </a:rPr>
              <a:t>This SRS defines the complete functional and non-functional requirements, system architecture, API specifications, database schema, and implementation roadmap for the LuxuryStay Hospitality Hotel Management System built on the MERN stack.</a:t>
            </a:r>
            <a:endParaRPr lang="en-US" sz="1350" dirty="0"/>
          </a:p>
        </p:txBody>
      </p:sp>
      <p:sp>
        <p:nvSpPr>
          <p:cNvPr id="8" name="Text 6"/>
          <p:cNvSpPr/>
          <p:nvPr/>
        </p:nvSpPr>
        <p:spPr>
          <a:xfrm>
            <a:off x="6317894" y="2271316"/>
            <a:ext cx="5160139" cy="276324"/>
          </a:xfrm>
          <a:prstGeom prst="rect">
            <a:avLst/>
          </a:prstGeom>
          <a:noFill/>
          <a:ln/>
        </p:spPr>
        <p:txBody>
          <a:bodyPr wrap="none" lIns="0" tIns="0" rIns="0" bIns="0" rtlCol="0" anchor="t"/>
          <a:lstStyle/>
          <a:p>
            <a:pPr algn="l" indent="0" marL="0">
              <a:lnSpc>
                <a:spcPct val="104000"/>
              </a:lnSpc>
              <a:buNone/>
            </a:pPr>
            <a:r>
              <a:rPr lang="en-US" sz="1700" dirty="0">
                <a:solidFill>
                  <a:srgbClr val="F2E782"/>
                </a:solidFill>
                <a:latin typeface="Prata" pitchFamily="34" charset="0"/>
                <a:ea typeface="Prata" pitchFamily="34" charset="-122"/>
                <a:cs typeface="Prata" pitchFamily="34" charset="-120"/>
              </a:rPr>
              <a:t>Technology Stack</a:t>
            </a:r>
            <a:endParaRPr lang="en-US" sz="1700" dirty="0"/>
          </a:p>
        </p:txBody>
      </p:sp>
      <p:sp>
        <p:nvSpPr>
          <p:cNvPr id="9" name="Text 7"/>
          <p:cNvSpPr/>
          <p:nvPr/>
        </p:nvSpPr>
        <p:spPr>
          <a:xfrm>
            <a:off x="6317894" y="2699544"/>
            <a:ext cx="5160139" cy="1210965"/>
          </a:xfrm>
          <a:prstGeom prst="rect">
            <a:avLst/>
          </a:prstGeom>
          <a:noFill/>
          <a:ln/>
        </p:spPr>
        <p:txBody>
          <a:bodyPr wrap="square" lIns="0" tIns="70721" rIns="0" bIns="0" rtlCol="0" anchor="t">
            <a:normAutofit/>
          </a:bodyPr>
          <a:lstStyle/>
          <a:p>
            <a:pPr algn="l" marL="274320" indent="-274320">
              <a:lnSpc>
                <a:spcPct val="124000"/>
              </a:lnSpc>
              <a:buSzPct val="100000"/>
              <a:buChar char="•"/>
            </a:pPr>
            <a:r>
              <a:rPr lang="en-US" sz="1350" b="1" dirty="0">
                <a:solidFill>
                  <a:srgbClr val="CFCBBF"/>
                </a:solidFill>
                <a:latin typeface="Raleway Bold" pitchFamily="34" charset="0"/>
                <a:ea typeface="Raleway Bold" pitchFamily="34" charset="-122"/>
                <a:cs typeface="Raleway Bold" pitchFamily="34" charset="-120"/>
              </a:rPr>
              <a:t>MongoDB 5.x</a:t>
            </a:r>
            <a:pPr algn="l" marL="274320" indent="-274320">
              <a:lnSpc>
                <a:spcPct val="124000"/>
              </a:lnSpc>
              <a:buSzPct val="100000"/>
              <a:buChar char="•"/>
            </a:pPr>
            <a:r>
              <a:rPr lang="en-US" sz="1350" dirty="0">
                <a:solidFill>
                  <a:srgbClr val="CFCBBF"/>
                </a:solidFill>
                <a:latin typeface="Raleway" pitchFamily="34" charset="0"/>
                <a:ea typeface="Raleway" pitchFamily="34" charset="-122"/>
                <a:cs typeface="Raleway" pitchFamily="34" charset="-120"/>
              </a:rPr>
              <a:t> — NoSQL document database</a:t>
            </a:r>
            <a:endParaRPr lang="en-US" sz="1350" dirty="0"/>
          </a:p>
          <a:p>
            <a:pPr algn="l" marL="274320" indent="-274320">
              <a:lnSpc>
                <a:spcPct val="124000"/>
              </a:lnSpc>
              <a:buSzPct val="100000"/>
              <a:buChar char="•"/>
            </a:pPr>
            <a:r>
              <a:rPr lang="en-US" sz="1350" b="1" dirty="0">
                <a:solidFill>
                  <a:srgbClr val="CFCBBF"/>
                </a:solidFill>
                <a:latin typeface="Raleway Bold" pitchFamily="34" charset="0"/>
                <a:ea typeface="Raleway Bold" pitchFamily="34" charset="-122"/>
                <a:cs typeface="Raleway Bold" pitchFamily="34" charset="-120"/>
              </a:rPr>
              <a:t>Express.js</a:t>
            </a:r>
            <a:pPr algn="l" marL="274320" indent="-274320">
              <a:lnSpc>
                <a:spcPct val="124000"/>
              </a:lnSpc>
              <a:buSzPct val="100000"/>
              <a:buChar char="•"/>
            </a:pPr>
            <a:r>
              <a:rPr lang="en-US" sz="1350" dirty="0">
                <a:solidFill>
                  <a:srgbClr val="CFCBBF"/>
                </a:solidFill>
                <a:latin typeface="Raleway" pitchFamily="34" charset="0"/>
                <a:ea typeface="Raleway" pitchFamily="34" charset="-122"/>
                <a:cs typeface="Raleway" pitchFamily="34" charset="-120"/>
              </a:rPr>
              <a:t> — RESTful API framework</a:t>
            </a:r>
            <a:endParaRPr lang="en-US" sz="1350" dirty="0"/>
          </a:p>
          <a:p>
            <a:pPr algn="l" marL="274320" indent="-274320">
              <a:lnSpc>
                <a:spcPct val="124000"/>
              </a:lnSpc>
              <a:buSzPct val="100000"/>
              <a:buChar char="•"/>
            </a:pPr>
            <a:r>
              <a:rPr lang="en-US" sz="1350" b="1" dirty="0">
                <a:solidFill>
                  <a:srgbClr val="CFCBBF"/>
                </a:solidFill>
                <a:latin typeface="Raleway Bold" pitchFamily="34" charset="0"/>
                <a:ea typeface="Raleway Bold" pitchFamily="34" charset="-122"/>
                <a:cs typeface="Raleway Bold" pitchFamily="34" charset="-120"/>
              </a:rPr>
              <a:t>React 18.x</a:t>
            </a:r>
            <a:pPr algn="l" marL="274320" indent="-274320">
              <a:lnSpc>
                <a:spcPct val="124000"/>
              </a:lnSpc>
              <a:buSzPct val="100000"/>
              <a:buChar char="•"/>
            </a:pPr>
            <a:r>
              <a:rPr lang="en-US" sz="1350" dirty="0">
                <a:solidFill>
                  <a:srgbClr val="CFCBBF"/>
                </a:solidFill>
                <a:latin typeface="Raleway" pitchFamily="34" charset="0"/>
                <a:ea typeface="Raleway" pitchFamily="34" charset="-122"/>
                <a:cs typeface="Raleway" pitchFamily="34" charset="-120"/>
              </a:rPr>
              <a:t> — Frontend UI library</a:t>
            </a:r>
            <a:endParaRPr lang="en-US" sz="1350" dirty="0"/>
          </a:p>
          <a:p>
            <a:pPr algn="l" marL="274320" indent="-274320">
              <a:lnSpc>
                <a:spcPct val="124000"/>
              </a:lnSpc>
              <a:buSzPct val="100000"/>
              <a:buChar char="•"/>
            </a:pPr>
            <a:r>
              <a:rPr lang="en-US" sz="1350" b="1" dirty="0">
                <a:solidFill>
                  <a:srgbClr val="CFCBBF"/>
                </a:solidFill>
                <a:latin typeface="Raleway Bold" pitchFamily="34" charset="0"/>
                <a:ea typeface="Raleway Bold" pitchFamily="34" charset="-122"/>
                <a:cs typeface="Raleway Bold" pitchFamily="34" charset="-120"/>
              </a:rPr>
              <a:t>Node.js v16+</a:t>
            </a:r>
            <a:pPr algn="l" marL="274320" indent="-274320">
              <a:lnSpc>
                <a:spcPct val="124000"/>
              </a:lnSpc>
              <a:buSzPct val="100000"/>
              <a:buChar char="•"/>
            </a:pPr>
            <a:r>
              <a:rPr lang="en-US" sz="1350" dirty="0">
                <a:solidFill>
                  <a:srgbClr val="CFCBBF"/>
                </a:solidFill>
                <a:latin typeface="Raleway" pitchFamily="34" charset="0"/>
                <a:ea typeface="Raleway" pitchFamily="34" charset="-122"/>
                <a:cs typeface="Raleway" pitchFamily="34" charset="-120"/>
              </a:rPr>
              <a:t> — Server-side runtime</a:t>
            </a:r>
            <a:endParaRPr lang="en-US" sz="1350" dirty="0"/>
          </a:p>
        </p:txBody>
      </p:sp>
      <p:sp>
        <p:nvSpPr>
          <p:cNvPr id="10" name="Shape 8"/>
          <p:cNvSpPr/>
          <p:nvPr/>
        </p:nvSpPr>
        <p:spPr>
          <a:xfrm>
            <a:off x="720012" y="4321770"/>
            <a:ext cx="10751670" cy="1967905"/>
          </a:xfrm>
          <a:prstGeom prst="roundRect">
            <a:avLst>
              <a:gd name="adj" fmla="val 1348"/>
            </a:avLst>
          </a:prstGeom>
          <a:solidFill>
            <a:srgbClr val="3A3B3C"/>
          </a:solidFill>
          <a:ln/>
        </p:spPr>
      </p:sp>
      <p:sp>
        <p:nvSpPr>
          <p:cNvPr id="11" name="Shape 9"/>
          <p:cNvSpPr/>
          <p:nvPr/>
        </p:nvSpPr>
        <p:spPr>
          <a:xfrm>
            <a:off x="720012" y="4321770"/>
            <a:ext cx="5375835" cy="983952"/>
          </a:xfrm>
          <a:custGeom>
            <a:avLst/>
            <a:gdLst/>
            <a:ahLst/>
            <a:cxnLst/>
            <a:rect l="l" t="t" r="r" b="b"/>
            <a:pathLst>
              <a:path w="5375835" h="983952">
                <a:moveTo>
                  <a:pt x="22100" y="0"/>
                </a:moveTo>
                <a:lnTo>
                  <a:pt x="5375835" y="0"/>
                </a:lnTo>
                <a:lnTo>
                  <a:pt x="5375835" y="983952"/>
                </a:lnTo>
                <a:lnTo>
                  <a:pt x="0" y="983952"/>
                </a:lnTo>
                <a:lnTo>
                  <a:pt x="0" y="22101"/>
                </a:lnTo>
                <a:arcTo hR="22101" wR="22100" stAng="10800000" swAng="5400000"/>
                <a:close/>
              </a:path>
            </a:pathLst>
          </a:custGeom>
          <a:solidFill>
            <a:srgbClr val="3A3B3C"/>
          </a:solidFill>
          <a:ln/>
        </p:spPr>
      </p:sp>
      <p:sp>
        <p:nvSpPr>
          <p:cNvPr id="12" name="Text 10"/>
          <p:cNvSpPr/>
          <p:nvPr/>
        </p:nvSpPr>
        <p:spPr>
          <a:xfrm>
            <a:off x="896816" y="4498578"/>
            <a:ext cx="5022228" cy="276324"/>
          </a:xfrm>
          <a:prstGeom prst="rect">
            <a:avLst/>
          </a:prstGeom>
          <a:noFill/>
          <a:ln/>
        </p:spPr>
        <p:txBody>
          <a:bodyPr wrap="none" lIns="0" tIns="0" rIns="0" bIns="0" rtlCol="0" anchor="t"/>
          <a:lstStyle/>
          <a:p>
            <a:pPr algn="l" indent="0" marL="0">
              <a:lnSpc>
                <a:spcPct val="104000"/>
              </a:lnSpc>
              <a:buNone/>
            </a:pPr>
            <a:r>
              <a:rPr lang="en-US" sz="1700" dirty="0">
                <a:solidFill>
                  <a:srgbClr val="CFCBBF"/>
                </a:solidFill>
                <a:latin typeface="Prata" pitchFamily="34" charset="0"/>
                <a:ea typeface="Prata" pitchFamily="34" charset="-122"/>
                <a:cs typeface="Prata" pitchFamily="34" charset="-120"/>
              </a:rPr>
              <a:t>Prepared For</a:t>
            </a:r>
            <a:endParaRPr lang="en-US" sz="1700" dirty="0"/>
          </a:p>
        </p:txBody>
      </p:sp>
      <p:sp>
        <p:nvSpPr>
          <p:cNvPr id="13" name="Text 11"/>
          <p:cNvSpPr/>
          <p:nvPr/>
        </p:nvSpPr>
        <p:spPr>
          <a:xfrm>
            <a:off x="896816" y="4865985"/>
            <a:ext cx="5022228" cy="262930"/>
          </a:xfrm>
          <a:prstGeom prst="rect">
            <a:avLst/>
          </a:prstGeom>
          <a:noFill/>
          <a:ln/>
        </p:spPr>
        <p:txBody>
          <a:bodyPr wrap="none" lIns="0" tIns="0" rIns="0" bIns="0" rtlCol="0" anchor="t"/>
          <a:lstStyle/>
          <a:p>
            <a:pPr algn="l" indent="0" marL="0">
              <a:lnSpc>
                <a:spcPct val="124000"/>
              </a:lnSpc>
              <a:buNone/>
            </a:pPr>
            <a:r>
              <a:rPr lang="en-US" sz="1350" dirty="0">
                <a:solidFill>
                  <a:srgbClr val="CFCBBF"/>
                </a:solidFill>
                <a:latin typeface="Raleway" pitchFamily="34" charset="0"/>
                <a:ea typeface="Raleway" pitchFamily="34" charset="-122"/>
                <a:cs typeface="Raleway" pitchFamily="34" charset="-120"/>
              </a:rPr>
              <a:t>LuxuryStay Hospitality — High-End Hotel Chain Operations</a:t>
            </a:r>
            <a:endParaRPr lang="en-US" sz="1350" dirty="0"/>
          </a:p>
        </p:txBody>
      </p:sp>
      <p:sp>
        <p:nvSpPr>
          <p:cNvPr id="14" name="Shape 12"/>
          <p:cNvSpPr/>
          <p:nvPr/>
        </p:nvSpPr>
        <p:spPr>
          <a:xfrm>
            <a:off x="6095848" y="4321770"/>
            <a:ext cx="5375835" cy="983952"/>
          </a:xfrm>
          <a:custGeom>
            <a:avLst/>
            <a:gdLst/>
            <a:ahLst/>
            <a:cxnLst/>
            <a:rect l="l" t="t" r="r" b="b"/>
            <a:pathLst>
              <a:path w="5375835" h="983952">
                <a:moveTo>
                  <a:pt x="0" y="0"/>
                </a:moveTo>
                <a:lnTo>
                  <a:pt x="5353735" y="0"/>
                </a:lnTo>
                <a:arcTo hR="22101" wR="22100" stAng="16200000" swAng="5400000"/>
                <a:lnTo>
                  <a:pt x="5375835" y="983952"/>
                </a:lnTo>
                <a:lnTo>
                  <a:pt x="0" y="983952"/>
                </a:lnTo>
                <a:lnTo>
                  <a:pt x="0" y="0"/>
                </a:lnTo>
                <a:close/>
              </a:path>
            </a:pathLst>
          </a:custGeom>
          <a:solidFill>
            <a:srgbClr val="3A3B3C"/>
          </a:solidFill>
          <a:ln/>
        </p:spPr>
      </p:sp>
      <p:sp>
        <p:nvSpPr>
          <p:cNvPr id="15" name="Shape 13"/>
          <p:cNvSpPr/>
          <p:nvPr/>
        </p:nvSpPr>
        <p:spPr>
          <a:xfrm>
            <a:off x="6095848" y="4321770"/>
            <a:ext cx="19050" cy="983952"/>
          </a:xfrm>
          <a:prstGeom prst="roundRect">
            <a:avLst>
              <a:gd name="adj" fmla="val 49999"/>
            </a:avLst>
          </a:prstGeom>
          <a:solidFill>
            <a:srgbClr val="535455"/>
          </a:solidFill>
          <a:ln/>
        </p:spPr>
      </p:sp>
      <p:sp>
        <p:nvSpPr>
          <p:cNvPr id="16" name="Text 14"/>
          <p:cNvSpPr/>
          <p:nvPr/>
        </p:nvSpPr>
        <p:spPr>
          <a:xfrm>
            <a:off x="6272651" y="4498578"/>
            <a:ext cx="5022228" cy="276324"/>
          </a:xfrm>
          <a:prstGeom prst="rect">
            <a:avLst/>
          </a:prstGeom>
          <a:noFill/>
          <a:ln/>
        </p:spPr>
        <p:txBody>
          <a:bodyPr wrap="none" lIns="0" tIns="0" rIns="0" bIns="0" rtlCol="0" anchor="t"/>
          <a:lstStyle/>
          <a:p>
            <a:pPr algn="l" indent="0" marL="0">
              <a:lnSpc>
                <a:spcPct val="104000"/>
              </a:lnSpc>
              <a:buNone/>
            </a:pPr>
            <a:r>
              <a:rPr lang="en-US" sz="1700" dirty="0">
                <a:solidFill>
                  <a:srgbClr val="CFCBBF"/>
                </a:solidFill>
                <a:latin typeface="Prata" pitchFamily="34" charset="0"/>
                <a:ea typeface="Prata" pitchFamily="34" charset="-122"/>
                <a:cs typeface="Prata" pitchFamily="34" charset="-120"/>
              </a:rPr>
              <a:t>Classification</a:t>
            </a:r>
            <a:endParaRPr lang="en-US" sz="1700" dirty="0"/>
          </a:p>
        </p:txBody>
      </p:sp>
      <p:sp>
        <p:nvSpPr>
          <p:cNvPr id="17" name="Text 15"/>
          <p:cNvSpPr/>
          <p:nvPr/>
        </p:nvSpPr>
        <p:spPr>
          <a:xfrm>
            <a:off x="6272651" y="4865985"/>
            <a:ext cx="5022228" cy="262930"/>
          </a:xfrm>
          <a:prstGeom prst="rect">
            <a:avLst/>
          </a:prstGeom>
          <a:noFill/>
          <a:ln/>
        </p:spPr>
        <p:txBody>
          <a:bodyPr wrap="none" lIns="0" tIns="0" rIns="0" bIns="0" rtlCol="0" anchor="t"/>
          <a:lstStyle/>
          <a:p>
            <a:pPr algn="l" indent="0" marL="0">
              <a:lnSpc>
                <a:spcPct val="124000"/>
              </a:lnSpc>
              <a:buNone/>
            </a:pPr>
            <a:r>
              <a:rPr lang="en-US" sz="1350" dirty="0">
                <a:solidFill>
                  <a:srgbClr val="CFCBBF"/>
                </a:solidFill>
                <a:latin typeface="Raleway" pitchFamily="34" charset="0"/>
                <a:ea typeface="Raleway" pitchFamily="34" charset="-122"/>
                <a:cs typeface="Raleway" pitchFamily="34" charset="-120"/>
              </a:rPr>
              <a:t>Academic Project — eProject Learning Environment</a:t>
            </a:r>
            <a:endParaRPr lang="en-US" sz="1350" dirty="0"/>
          </a:p>
        </p:txBody>
      </p:sp>
      <p:sp>
        <p:nvSpPr>
          <p:cNvPr id="18" name="Shape 16"/>
          <p:cNvSpPr/>
          <p:nvPr/>
        </p:nvSpPr>
        <p:spPr>
          <a:xfrm>
            <a:off x="720012" y="5305723"/>
            <a:ext cx="5375835" cy="983952"/>
          </a:xfrm>
          <a:custGeom>
            <a:avLst/>
            <a:gdLst/>
            <a:ahLst/>
            <a:cxnLst/>
            <a:rect l="l" t="t" r="r" b="b"/>
            <a:pathLst>
              <a:path w="5375835" h="983952">
                <a:moveTo>
                  <a:pt x="0" y="0"/>
                </a:moveTo>
                <a:lnTo>
                  <a:pt x="5375835" y="0"/>
                </a:lnTo>
                <a:lnTo>
                  <a:pt x="5375835" y="983952"/>
                </a:lnTo>
                <a:lnTo>
                  <a:pt x="22100" y="983952"/>
                </a:lnTo>
                <a:arcTo hR="22101" wR="22100" stAng="5400000" swAng="5400000"/>
                <a:lnTo>
                  <a:pt x="0" y="0"/>
                </a:lnTo>
                <a:close/>
              </a:path>
            </a:pathLst>
          </a:custGeom>
          <a:solidFill>
            <a:srgbClr val="3A3B3C"/>
          </a:solidFill>
          <a:ln/>
        </p:spPr>
      </p:sp>
      <p:sp>
        <p:nvSpPr>
          <p:cNvPr id="19" name="Shape 17"/>
          <p:cNvSpPr/>
          <p:nvPr/>
        </p:nvSpPr>
        <p:spPr>
          <a:xfrm>
            <a:off x="720012" y="5305723"/>
            <a:ext cx="5375835" cy="19050"/>
          </a:xfrm>
          <a:prstGeom prst="roundRect">
            <a:avLst>
              <a:gd name="adj" fmla="val 49999"/>
            </a:avLst>
          </a:prstGeom>
          <a:solidFill>
            <a:srgbClr val="535455"/>
          </a:solidFill>
          <a:ln/>
        </p:spPr>
      </p:sp>
      <p:sp>
        <p:nvSpPr>
          <p:cNvPr id="20" name="Text 18"/>
          <p:cNvSpPr/>
          <p:nvPr/>
        </p:nvSpPr>
        <p:spPr>
          <a:xfrm>
            <a:off x="896816" y="5482530"/>
            <a:ext cx="5022228" cy="276324"/>
          </a:xfrm>
          <a:prstGeom prst="rect">
            <a:avLst/>
          </a:prstGeom>
          <a:noFill/>
          <a:ln/>
        </p:spPr>
        <p:txBody>
          <a:bodyPr wrap="none" lIns="0" tIns="0" rIns="0" bIns="0" rtlCol="0" anchor="t"/>
          <a:lstStyle/>
          <a:p>
            <a:pPr algn="l" indent="0" marL="0">
              <a:lnSpc>
                <a:spcPct val="104000"/>
              </a:lnSpc>
              <a:buNone/>
            </a:pPr>
            <a:r>
              <a:rPr lang="en-US" sz="1700" dirty="0">
                <a:solidFill>
                  <a:srgbClr val="CFCBBF"/>
                </a:solidFill>
                <a:latin typeface="Prata" pitchFamily="34" charset="0"/>
                <a:ea typeface="Prata" pitchFamily="34" charset="-122"/>
                <a:cs typeface="Prata" pitchFamily="34" charset="-120"/>
              </a:rPr>
              <a:t>Scope</a:t>
            </a:r>
            <a:endParaRPr lang="en-US" sz="1700" dirty="0"/>
          </a:p>
        </p:txBody>
      </p:sp>
      <p:sp>
        <p:nvSpPr>
          <p:cNvPr id="21" name="Text 19"/>
          <p:cNvSpPr/>
          <p:nvPr/>
        </p:nvSpPr>
        <p:spPr>
          <a:xfrm>
            <a:off x="896816" y="5849937"/>
            <a:ext cx="5022228" cy="262930"/>
          </a:xfrm>
          <a:prstGeom prst="rect">
            <a:avLst/>
          </a:prstGeom>
          <a:noFill/>
          <a:ln/>
        </p:spPr>
        <p:txBody>
          <a:bodyPr wrap="none" lIns="0" tIns="0" rIns="0" bIns="0" rtlCol="0" anchor="t"/>
          <a:lstStyle/>
          <a:p>
            <a:pPr algn="l" indent="0" marL="0">
              <a:lnSpc>
                <a:spcPct val="124000"/>
              </a:lnSpc>
              <a:buNone/>
            </a:pPr>
            <a:r>
              <a:rPr lang="en-US" sz="1350" dirty="0">
                <a:solidFill>
                  <a:srgbClr val="CFCBBF"/>
                </a:solidFill>
                <a:latin typeface="Raleway" pitchFamily="34" charset="0"/>
                <a:ea typeface="Raleway" pitchFamily="34" charset="-122"/>
                <a:cs typeface="Raleway" pitchFamily="34" charset="-120"/>
              </a:rPr>
              <a:t>Full-stack production-ready HMS with 30+ API endpoints</a:t>
            </a:r>
            <a:endParaRPr lang="en-US" sz="1350" dirty="0"/>
          </a:p>
        </p:txBody>
      </p:sp>
      <p:sp>
        <p:nvSpPr>
          <p:cNvPr id="22" name="Shape 20"/>
          <p:cNvSpPr/>
          <p:nvPr/>
        </p:nvSpPr>
        <p:spPr>
          <a:xfrm>
            <a:off x="6095848" y="5305723"/>
            <a:ext cx="5375835" cy="983952"/>
          </a:xfrm>
          <a:custGeom>
            <a:avLst/>
            <a:gdLst/>
            <a:ahLst/>
            <a:cxnLst/>
            <a:rect l="l" t="t" r="r" b="b"/>
            <a:pathLst>
              <a:path w="5375835" h="983952">
                <a:moveTo>
                  <a:pt x="0" y="0"/>
                </a:moveTo>
                <a:lnTo>
                  <a:pt x="5375835" y="0"/>
                </a:lnTo>
                <a:lnTo>
                  <a:pt x="5375835" y="961851"/>
                </a:lnTo>
                <a:arcTo hR="22101" wR="22100" stAng="0" swAng="5400000"/>
                <a:lnTo>
                  <a:pt x="0" y="983952"/>
                </a:lnTo>
                <a:lnTo>
                  <a:pt x="0" y="0"/>
                </a:lnTo>
                <a:close/>
              </a:path>
            </a:pathLst>
          </a:custGeom>
          <a:solidFill>
            <a:srgbClr val="3A3B3C"/>
          </a:solidFill>
          <a:ln/>
        </p:spPr>
      </p:sp>
      <p:sp>
        <p:nvSpPr>
          <p:cNvPr id="23" name="Shape 21"/>
          <p:cNvSpPr/>
          <p:nvPr/>
        </p:nvSpPr>
        <p:spPr>
          <a:xfrm>
            <a:off x="6095848" y="5305723"/>
            <a:ext cx="19050" cy="983952"/>
          </a:xfrm>
          <a:prstGeom prst="roundRect">
            <a:avLst>
              <a:gd name="adj" fmla="val 49999"/>
            </a:avLst>
          </a:prstGeom>
          <a:solidFill>
            <a:srgbClr val="535455"/>
          </a:solidFill>
          <a:ln/>
        </p:spPr>
      </p:sp>
      <p:sp>
        <p:nvSpPr>
          <p:cNvPr id="24" name="Shape 22"/>
          <p:cNvSpPr/>
          <p:nvPr/>
        </p:nvSpPr>
        <p:spPr>
          <a:xfrm>
            <a:off x="6095848" y="5305723"/>
            <a:ext cx="5375835" cy="19050"/>
          </a:xfrm>
          <a:prstGeom prst="roundRect">
            <a:avLst>
              <a:gd name="adj" fmla="val 49999"/>
            </a:avLst>
          </a:prstGeom>
          <a:solidFill>
            <a:srgbClr val="535455"/>
          </a:solidFill>
          <a:ln/>
        </p:spPr>
      </p:sp>
      <p:sp>
        <p:nvSpPr>
          <p:cNvPr id="25" name="Text 23"/>
          <p:cNvSpPr/>
          <p:nvPr/>
        </p:nvSpPr>
        <p:spPr>
          <a:xfrm>
            <a:off x="6272651" y="5482530"/>
            <a:ext cx="5022228" cy="276324"/>
          </a:xfrm>
          <a:prstGeom prst="rect">
            <a:avLst/>
          </a:prstGeom>
          <a:noFill/>
          <a:ln/>
        </p:spPr>
        <p:txBody>
          <a:bodyPr wrap="none" lIns="0" tIns="0" rIns="0" bIns="0" rtlCol="0" anchor="t"/>
          <a:lstStyle/>
          <a:p>
            <a:pPr algn="l" indent="0" marL="0">
              <a:lnSpc>
                <a:spcPct val="104000"/>
              </a:lnSpc>
              <a:buNone/>
            </a:pPr>
            <a:r>
              <a:rPr lang="en-US" sz="1700" dirty="0">
                <a:solidFill>
                  <a:srgbClr val="CFCBBF"/>
                </a:solidFill>
                <a:latin typeface="Prata" pitchFamily="34" charset="0"/>
                <a:ea typeface="Prata" pitchFamily="34" charset="-122"/>
                <a:cs typeface="Prata" pitchFamily="34" charset="-120"/>
              </a:rPr>
              <a:t>Timeline</a:t>
            </a:r>
            <a:endParaRPr lang="en-US" sz="1700" dirty="0"/>
          </a:p>
        </p:txBody>
      </p:sp>
      <p:sp>
        <p:nvSpPr>
          <p:cNvPr id="26" name="Text 24"/>
          <p:cNvSpPr/>
          <p:nvPr/>
        </p:nvSpPr>
        <p:spPr>
          <a:xfrm>
            <a:off x="6272651" y="5849937"/>
            <a:ext cx="5022228" cy="262930"/>
          </a:xfrm>
          <a:prstGeom prst="rect">
            <a:avLst/>
          </a:prstGeom>
          <a:noFill/>
          <a:ln/>
        </p:spPr>
        <p:txBody>
          <a:bodyPr wrap="none" lIns="0" tIns="0" rIns="0" bIns="0" rtlCol="0" anchor="t"/>
          <a:lstStyle/>
          <a:p>
            <a:pPr algn="l" indent="0" marL="0">
              <a:lnSpc>
                <a:spcPct val="124000"/>
              </a:lnSpc>
              <a:buNone/>
            </a:pPr>
            <a:r>
              <a:rPr lang="en-US" sz="1350" dirty="0">
                <a:solidFill>
                  <a:srgbClr val="CFCBBF"/>
                </a:solidFill>
                <a:latin typeface="Raleway" pitchFamily="34" charset="0"/>
                <a:ea typeface="Raleway" pitchFamily="34" charset="-122"/>
                <a:cs typeface="Raleway" pitchFamily="34" charset="-120"/>
              </a:rPr>
              <a:t>4-Phase Implementation — 7-Week Delivery Schedule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20012" y="643731"/>
            <a:ext cx="1084831" cy="249039"/>
          </a:xfrm>
          <a:prstGeom prst="roundRect">
            <a:avLst>
              <a:gd name="adj" fmla="val 7900"/>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818336" y="702667"/>
            <a:ext cx="131065" cy="131068"/>
          </a:xfrm>
          <a:prstGeom prst="rect">
            <a:avLst/>
          </a:prstGeom>
        </p:spPr>
      </p:pic>
      <p:sp>
        <p:nvSpPr>
          <p:cNvPr id="4" name="Text 1"/>
          <p:cNvSpPr/>
          <p:nvPr/>
        </p:nvSpPr>
        <p:spPr>
          <a:xfrm>
            <a:off x="1014883" y="692845"/>
            <a:ext cx="1301221" cy="150813"/>
          </a:xfrm>
          <a:prstGeom prst="rect">
            <a:avLst/>
          </a:prstGeom>
          <a:noFill/>
          <a:ln/>
        </p:spPr>
        <p:txBody>
          <a:bodyPr wrap="none" lIns="0" tIns="0" rIns="0" bIns="0" rtlCol="0" anchor="t"/>
          <a:lstStyle/>
          <a:p>
            <a:pPr algn="l" indent="0" marL="0">
              <a:lnSpc>
                <a:spcPct val="96000"/>
              </a:lnSpc>
              <a:buNone/>
            </a:pPr>
            <a:r>
              <a:rPr lang="en-US" sz="1000" dirty="0">
                <a:solidFill>
                  <a:srgbClr val="CFCBBF"/>
                </a:solidFill>
                <a:latin typeface="Raleway" pitchFamily="34" charset="0"/>
                <a:ea typeface="Raleway" pitchFamily="34" charset="-122"/>
                <a:cs typeface="Raleway" pitchFamily="34" charset="-120"/>
              </a:rPr>
              <a:t>CHAPTER 1</a:t>
            </a:r>
            <a:endParaRPr lang="en-US" sz="1000" dirty="0"/>
          </a:p>
        </p:txBody>
      </p:sp>
      <p:sp>
        <p:nvSpPr>
          <p:cNvPr id="5" name="Text 2"/>
          <p:cNvSpPr/>
          <p:nvPr/>
        </p:nvSpPr>
        <p:spPr>
          <a:xfrm>
            <a:off x="720012" y="944959"/>
            <a:ext cx="10751670" cy="512266"/>
          </a:xfrm>
          <a:prstGeom prst="rect">
            <a:avLst/>
          </a:prstGeom>
          <a:noFill/>
          <a:ln/>
        </p:spPr>
        <p:txBody>
          <a:bodyPr wrap="none" lIns="0" tIns="0" rIns="0" bIns="0" rtlCol="0" anchor="t"/>
          <a:lstStyle/>
          <a:p>
            <a:pPr algn="l" indent="0" marL="0">
              <a:lnSpc>
                <a:spcPct val="104000"/>
              </a:lnSpc>
              <a:buNone/>
            </a:pPr>
            <a:r>
              <a:rPr lang="en-US" sz="3200" dirty="0">
                <a:solidFill>
                  <a:srgbClr val="F2E782"/>
                </a:solidFill>
                <a:latin typeface="Prata" pitchFamily="34" charset="0"/>
                <a:ea typeface="Prata" pitchFamily="34" charset="-122"/>
                <a:cs typeface="Prata" pitchFamily="34" charset="-120"/>
              </a:rPr>
              <a:t>Introduction &amp; Project Overview</a:t>
            </a:r>
            <a:endParaRPr lang="en-US" sz="3200" dirty="0"/>
          </a:p>
        </p:txBody>
      </p:sp>
      <p:sp>
        <p:nvSpPr>
          <p:cNvPr id="6" name="Text 3"/>
          <p:cNvSpPr/>
          <p:nvPr/>
        </p:nvSpPr>
        <p:spPr>
          <a:xfrm>
            <a:off x="720012" y="1653183"/>
            <a:ext cx="10751670" cy="706636"/>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FCBBF"/>
                </a:solidFill>
                <a:latin typeface="Raleway" pitchFamily="34" charset="0"/>
                <a:ea typeface="Raleway" pitchFamily="34" charset="-122"/>
                <a:cs typeface="Raleway" pitchFamily="34" charset="-120"/>
              </a:rPr>
              <a:t>The LuxuryStay Hotel Management System represents a comprehensive, production-grade application designed to modernize hotel operations from the ground up. This document provides the authoritative specification for every system component, from user authentication to housekeeping task assignment.</a:t>
            </a:r>
            <a:endParaRPr lang="en-US" sz="1250" dirty="0"/>
          </a:p>
        </p:txBody>
      </p:sp>
      <p:sp>
        <p:nvSpPr>
          <p:cNvPr id="7" name="Shape 4"/>
          <p:cNvSpPr/>
          <p:nvPr/>
        </p:nvSpPr>
        <p:spPr>
          <a:xfrm>
            <a:off x="602044" y="2506762"/>
            <a:ext cx="5411851" cy="2048173"/>
          </a:xfrm>
          <a:prstGeom prst="roundRect">
            <a:avLst>
              <a:gd name="adj" fmla="val 1201"/>
            </a:avLst>
          </a:prstGeom>
          <a:solidFill>
            <a:srgbClr val="FCEC99"/>
          </a:solidFill>
          <a:ln/>
        </p:spPr>
      </p:sp>
      <p:sp>
        <p:nvSpPr>
          <p:cNvPr id="8" name="Text 5"/>
          <p:cNvSpPr/>
          <p:nvPr/>
        </p:nvSpPr>
        <p:spPr>
          <a:xfrm>
            <a:off x="765950" y="2637334"/>
            <a:ext cx="5084040" cy="256183"/>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Prata" pitchFamily="34" charset="0"/>
                <a:ea typeface="Prata" pitchFamily="34" charset="-122"/>
                <a:cs typeface="Prata" pitchFamily="34" charset="-120"/>
              </a:rPr>
              <a:t>Project Vision</a:t>
            </a:r>
            <a:endParaRPr lang="en-US" sz="1600" dirty="0"/>
          </a:p>
        </p:txBody>
      </p:sp>
      <p:sp>
        <p:nvSpPr>
          <p:cNvPr id="9" name="Text 6"/>
          <p:cNvSpPr/>
          <p:nvPr/>
        </p:nvSpPr>
        <p:spPr>
          <a:xfrm>
            <a:off x="765950" y="3024088"/>
            <a:ext cx="5084040" cy="1413272"/>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Raleway" pitchFamily="34" charset="0"/>
                <a:ea typeface="Raleway" pitchFamily="34" charset="-122"/>
                <a:cs typeface="Raleway" pitchFamily="34" charset="-120"/>
              </a:rPr>
              <a:t>LuxuryStay Hospitality is a high-end hotel chain seeking to implement a cutting-edge HMS that consolidates all operational workflows into a single, scalable platform. The system targets complete operational efficiency through a modern, user-friendly interface accessible to staff at every level — from executive management to housekeeping personnel.</a:t>
            </a:r>
            <a:endParaRPr lang="en-US" sz="1250" dirty="0"/>
          </a:p>
        </p:txBody>
      </p:sp>
      <p:sp>
        <p:nvSpPr>
          <p:cNvPr id="10" name="Text 7"/>
          <p:cNvSpPr/>
          <p:nvPr/>
        </p:nvSpPr>
        <p:spPr>
          <a:xfrm>
            <a:off x="6302118" y="2637334"/>
            <a:ext cx="5175914" cy="256183"/>
          </a:xfrm>
          <a:prstGeom prst="rect">
            <a:avLst/>
          </a:prstGeom>
          <a:noFill/>
          <a:ln/>
        </p:spPr>
        <p:txBody>
          <a:bodyPr wrap="none" lIns="0" tIns="0" rIns="0" bIns="0" rtlCol="0" anchor="t"/>
          <a:lstStyle/>
          <a:p>
            <a:pPr algn="l" indent="0" marL="0">
              <a:lnSpc>
                <a:spcPct val="104000"/>
              </a:lnSpc>
              <a:buNone/>
            </a:pPr>
            <a:r>
              <a:rPr lang="en-US" sz="1600" dirty="0">
                <a:solidFill>
                  <a:srgbClr val="F2E782"/>
                </a:solidFill>
                <a:latin typeface="Prata" pitchFamily="34" charset="0"/>
                <a:ea typeface="Prata" pitchFamily="34" charset="-122"/>
                <a:cs typeface="Prata" pitchFamily="34" charset="-120"/>
              </a:rPr>
              <a:t>eProject Learning Environment</a:t>
            </a:r>
            <a:endParaRPr lang="en-US" sz="1600" dirty="0"/>
          </a:p>
        </p:txBody>
      </p:sp>
      <p:sp>
        <p:nvSpPr>
          <p:cNvPr id="11" name="Text 8"/>
          <p:cNvSpPr/>
          <p:nvPr/>
        </p:nvSpPr>
        <p:spPr>
          <a:xfrm>
            <a:off x="6302118" y="3024088"/>
            <a:ext cx="5175914" cy="1413272"/>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FCBBF"/>
                </a:solidFill>
                <a:latin typeface="Raleway" pitchFamily="34" charset="0"/>
                <a:ea typeface="Raleway" pitchFamily="34" charset="-122"/>
                <a:cs typeface="Raleway" pitchFamily="34" charset="-120"/>
              </a:rPr>
              <a:t>This project is structured as a real-life scenario-based learning exercise using the MERN stack. Implementation follows a phased approach with step-by-step milestones, culminating in a robust, production-ready application supported by complete documentation, test coverage, and a deployment-ready architecture.</a:t>
            </a:r>
            <a:endParaRPr lang="en-US" sz="1250" dirty="0"/>
          </a:p>
        </p:txBody>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012" y="4701877"/>
            <a:ext cx="409862" cy="409873"/>
          </a:xfrm>
          <a:prstGeom prst="rect">
            <a:avLst/>
          </a:prstGeom>
        </p:spPr>
      </p:pic>
      <p:sp>
        <p:nvSpPr>
          <p:cNvPr id="13" name="Text 9"/>
          <p:cNvSpPr/>
          <p:nvPr/>
        </p:nvSpPr>
        <p:spPr>
          <a:xfrm>
            <a:off x="1293086" y="4701877"/>
            <a:ext cx="2901977" cy="256183"/>
          </a:xfrm>
          <a:prstGeom prst="rect">
            <a:avLst/>
          </a:prstGeom>
          <a:noFill/>
          <a:ln/>
        </p:spPr>
        <p:txBody>
          <a:bodyPr wrap="none" lIns="0" tIns="0" rIns="0" bIns="0" rtlCol="0" anchor="t"/>
          <a:lstStyle/>
          <a:p>
            <a:pPr algn="l" indent="0" marL="0">
              <a:lnSpc>
                <a:spcPct val="104000"/>
              </a:lnSpc>
              <a:buNone/>
            </a:pPr>
            <a:r>
              <a:rPr lang="en-US" sz="1600" dirty="0">
                <a:solidFill>
                  <a:srgbClr val="CFCBBF"/>
                </a:solidFill>
                <a:latin typeface="Prata" pitchFamily="34" charset="0"/>
                <a:ea typeface="Prata" pitchFamily="34" charset="-122"/>
                <a:cs typeface="Prata" pitchFamily="34" charset="-120"/>
              </a:rPr>
              <a:t>Primary Goal</a:t>
            </a:r>
            <a:endParaRPr lang="en-US" sz="1600" dirty="0"/>
          </a:p>
        </p:txBody>
      </p:sp>
      <p:sp>
        <p:nvSpPr>
          <p:cNvPr id="14" name="Text 10"/>
          <p:cNvSpPr/>
          <p:nvPr/>
        </p:nvSpPr>
        <p:spPr>
          <a:xfrm>
            <a:off x="1293086" y="5036443"/>
            <a:ext cx="2901977" cy="94218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FCBBF"/>
                </a:solidFill>
                <a:latin typeface="Raleway" pitchFamily="34" charset="0"/>
                <a:ea typeface="Raleway" pitchFamily="34" charset="-122"/>
                <a:cs typeface="Raleway" pitchFamily="34" charset="-120"/>
              </a:rPr>
              <a:t>Streamline all hotel operations and significantly enhance the guest experience through digital-first workflows and real-time data visibility.</a:t>
            </a:r>
            <a:endParaRPr lang="en-US" sz="1250" dirty="0"/>
          </a:p>
        </p:txBody>
      </p:sp>
      <p:pic>
        <p:nvPicPr>
          <p:cNvPr id="1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8273" y="4701877"/>
            <a:ext cx="409862" cy="409873"/>
          </a:xfrm>
          <a:prstGeom prst="rect">
            <a:avLst/>
          </a:prstGeom>
        </p:spPr>
      </p:pic>
      <p:sp>
        <p:nvSpPr>
          <p:cNvPr id="16" name="Text 11"/>
          <p:cNvSpPr/>
          <p:nvPr/>
        </p:nvSpPr>
        <p:spPr>
          <a:xfrm>
            <a:off x="4931346" y="4701877"/>
            <a:ext cx="2901977" cy="256183"/>
          </a:xfrm>
          <a:prstGeom prst="rect">
            <a:avLst/>
          </a:prstGeom>
          <a:noFill/>
          <a:ln/>
        </p:spPr>
        <p:txBody>
          <a:bodyPr wrap="none" lIns="0" tIns="0" rIns="0" bIns="0" rtlCol="0" anchor="t"/>
          <a:lstStyle/>
          <a:p>
            <a:pPr algn="l" indent="0" marL="0">
              <a:lnSpc>
                <a:spcPct val="104000"/>
              </a:lnSpc>
              <a:buNone/>
            </a:pPr>
            <a:r>
              <a:rPr lang="en-US" sz="1600" dirty="0">
                <a:solidFill>
                  <a:srgbClr val="CFCBBF"/>
                </a:solidFill>
                <a:latin typeface="Prata" pitchFamily="34" charset="0"/>
                <a:ea typeface="Prata" pitchFamily="34" charset="-122"/>
                <a:cs typeface="Prata" pitchFamily="34" charset="-120"/>
              </a:rPr>
              <a:t>Architecture Goal</a:t>
            </a:r>
            <a:endParaRPr lang="en-US" sz="1600" dirty="0"/>
          </a:p>
        </p:txBody>
      </p:sp>
      <p:sp>
        <p:nvSpPr>
          <p:cNvPr id="17" name="Text 12"/>
          <p:cNvSpPr/>
          <p:nvPr/>
        </p:nvSpPr>
        <p:spPr>
          <a:xfrm>
            <a:off x="4931346" y="5036443"/>
            <a:ext cx="2901977" cy="94218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FCBBF"/>
                </a:solidFill>
                <a:latin typeface="Raleway" pitchFamily="34" charset="0"/>
                <a:ea typeface="Raleway" pitchFamily="34" charset="-122"/>
                <a:cs typeface="Raleway" pitchFamily="34" charset="-120"/>
              </a:rPr>
              <a:t>Deliver a scalable, modular MERN application that can grow with the business — from a single property to a multi-location chain.</a:t>
            </a:r>
            <a:endParaRPr lang="en-US" sz="1250" dirty="0"/>
          </a:p>
        </p:txBody>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6534" y="4701877"/>
            <a:ext cx="409862" cy="409873"/>
          </a:xfrm>
          <a:prstGeom prst="rect">
            <a:avLst/>
          </a:prstGeom>
        </p:spPr>
      </p:pic>
      <p:sp>
        <p:nvSpPr>
          <p:cNvPr id="19" name="Text 13"/>
          <p:cNvSpPr/>
          <p:nvPr/>
        </p:nvSpPr>
        <p:spPr>
          <a:xfrm>
            <a:off x="8569607" y="4701877"/>
            <a:ext cx="2901977" cy="256183"/>
          </a:xfrm>
          <a:prstGeom prst="rect">
            <a:avLst/>
          </a:prstGeom>
          <a:noFill/>
          <a:ln/>
        </p:spPr>
        <p:txBody>
          <a:bodyPr wrap="none" lIns="0" tIns="0" rIns="0" bIns="0" rtlCol="0" anchor="t"/>
          <a:lstStyle/>
          <a:p>
            <a:pPr algn="l" indent="0" marL="0">
              <a:lnSpc>
                <a:spcPct val="104000"/>
              </a:lnSpc>
              <a:buNone/>
            </a:pPr>
            <a:r>
              <a:rPr lang="en-US" sz="1600" dirty="0">
                <a:solidFill>
                  <a:srgbClr val="CFCBBF"/>
                </a:solidFill>
                <a:latin typeface="Prata" pitchFamily="34" charset="0"/>
                <a:ea typeface="Prata" pitchFamily="34" charset="-122"/>
                <a:cs typeface="Prata" pitchFamily="34" charset="-120"/>
              </a:rPr>
              <a:t>Learning Goal</a:t>
            </a:r>
            <a:endParaRPr lang="en-US" sz="1600" dirty="0"/>
          </a:p>
        </p:txBody>
      </p:sp>
      <p:sp>
        <p:nvSpPr>
          <p:cNvPr id="20" name="Text 14"/>
          <p:cNvSpPr/>
          <p:nvPr/>
        </p:nvSpPr>
        <p:spPr>
          <a:xfrm>
            <a:off x="8569607" y="5036443"/>
            <a:ext cx="2901977" cy="1177727"/>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CFCBBF"/>
                </a:solidFill>
                <a:latin typeface="Raleway" pitchFamily="34" charset="0"/>
                <a:ea typeface="Raleway" pitchFamily="34" charset="-122"/>
                <a:cs typeface="Raleway" pitchFamily="34" charset="-120"/>
              </a:rPr>
              <a:t>Demonstrate mastery of full-stack development through phased delivery, complete API documentation, and professional SRS-grade specification.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20012" y="593527"/>
            <a:ext cx="1552139" cy="200223"/>
          </a:xfrm>
          <a:prstGeom prst="roundRect">
            <a:avLst>
              <a:gd name="adj" fmla="val 7899"/>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99088" y="640953"/>
            <a:ext cx="105368" cy="105370"/>
          </a:xfrm>
          <a:prstGeom prst="rect">
            <a:avLst/>
          </a:prstGeom>
        </p:spPr>
      </p:pic>
      <p:sp>
        <p:nvSpPr>
          <p:cNvPr id="4" name="Text 1"/>
          <p:cNvSpPr/>
          <p:nvPr/>
        </p:nvSpPr>
        <p:spPr>
          <a:xfrm>
            <a:off x="957139" y="633016"/>
            <a:ext cx="1845522" cy="121245"/>
          </a:xfrm>
          <a:prstGeom prst="rect">
            <a:avLst/>
          </a:prstGeom>
          <a:noFill/>
          <a:ln/>
        </p:spPr>
        <p:txBody>
          <a:bodyPr wrap="none" lIns="0" tIns="0" rIns="0" bIns="0" rtlCol="0" anchor="t"/>
          <a:lstStyle/>
          <a:p>
            <a:pPr algn="l" indent="0" marL="0">
              <a:lnSpc>
                <a:spcPct val="96000"/>
              </a:lnSpc>
              <a:buNone/>
            </a:pPr>
            <a:r>
              <a:rPr lang="en-US" sz="800" dirty="0">
                <a:solidFill>
                  <a:srgbClr val="CFCBBF"/>
                </a:solidFill>
                <a:latin typeface="Raleway" pitchFamily="34" charset="0"/>
                <a:ea typeface="Raleway" pitchFamily="34" charset="-122"/>
                <a:cs typeface="Raleway" pitchFamily="34" charset="-120"/>
              </a:rPr>
              <a:t>CHAPTER 2 · SECTION 2.1</a:t>
            </a:r>
            <a:endParaRPr lang="en-US" sz="800" dirty="0"/>
          </a:p>
        </p:txBody>
      </p:sp>
      <p:sp>
        <p:nvSpPr>
          <p:cNvPr id="5" name="Text 2"/>
          <p:cNvSpPr/>
          <p:nvPr/>
        </p:nvSpPr>
        <p:spPr>
          <a:xfrm>
            <a:off x="720012" y="827484"/>
            <a:ext cx="10751670" cy="411857"/>
          </a:xfrm>
          <a:prstGeom prst="rect">
            <a:avLst/>
          </a:prstGeom>
          <a:noFill/>
          <a:ln/>
        </p:spPr>
        <p:txBody>
          <a:bodyPr wrap="none" lIns="0" tIns="0" rIns="0" bIns="0" rtlCol="0" anchor="t"/>
          <a:lstStyle/>
          <a:p>
            <a:pPr algn="l" indent="0" marL="0">
              <a:lnSpc>
                <a:spcPct val="104000"/>
              </a:lnSpc>
              <a:buNone/>
            </a:pPr>
            <a:r>
              <a:rPr lang="en-US" sz="2550" dirty="0">
                <a:solidFill>
                  <a:srgbClr val="F2E782"/>
                </a:solidFill>
                <a:latin typeface="Prata" pitchFamily="34" charset="0"/>
                <a:ea typeface="Prata" pitchFamily="34" charset="-122"/>
                <a:cs typeface="Prata" pitchFamily="34" charset="-120"/>
              </a:rPr>
              <a:t>Functional Requirements — User Management</a:t>
            </a:r>
            <a:endParaRPr lang="en-US" sz="2550" dirty="0"/>
          </a:p>
        </p:txBody>
      </p:sp>
      <p:sp>
        <p:nvSpPr>
          <p:cNvPr id="6" name="Text 3"/>
          <p:cNvSpPr/>
          <p:nvPr/>
        </p:nvSpPr>
        <p:spPr>
          <a:xfrm>
            <a:off x="720012" y="1365945"/>
            <a:ext cx="10751670" cy="345877"/>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The user management module establishes the foundational identity and access control layer for the entire HMS. Every system actor — from administrator to guest — is governed by this module's role-based permission framework.</a:t>
            </a:r>
            <a:endParaRPr lang="en-US" sz="10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012" y="1806773"/>
            <a:ext cx="3527535" cy="1943894"/>
          </a:xfrm>
          <a:prstGeom prst="rect">
            <a:avLst/>
          </a:prstGeom>
        </p:spPr>
      </p:pic>
      <p:sp>
        <p:nvSpPr>
          <p:cNvPr id="8" name="Text 4"/>
          <p:cNvSpPr/>
          <p:nvPr/>
        </p:nvSpPr>
        <p:spPr>
          <a:xfrm>
            <a:off x="2384961" y="1899940"/>
            <a:ext cx="197639" cy="247055"/>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Prata" pitchFamily="34" charset="0"/>
                <a:ea typeface="Prata" pitchFamily="34" charset="-122"/>
                <a:cs typeface="Prata" pitchFamily="34" charset="-120"/>
              </a:rPr>
              <a:t>1</a:t>
            </a:r>
            <a:endParaRPr lang="en-US" sz="1550" dirty="0"/>
          </a:p>
        </p:txBody>
      </p:sp>
      <p:sp>
        <p:nvSpPr>
          <p:cNvPr id="9" name="Text 5"/>
          <p:cNvSpPr/>
          <p:nvPr/>
        </p:nvSpPr>
        <p:spPr>
          <a:xfrm>
            <a:off x="870821" y="2305645"/>
            <a:ext cx="3225918" cy="205978"/>
          </a:xfrm>
          <a:prstGeom prst="rect">
            <a:avLst/>
          </a:prstGeom>
          <a:noFill/>
          <a:ln/>
        </p:spPr>
        <p:txBody>
          <a:bodyPr wrap="none" lIns="0" tIns="0" rIns="0" bIns="0" rtlCol="0" anchor="t"/>
          <a:lstStyle/>
          <a:p>
            <a:pPr algn="l" indent="0" marL="0">
              <a:lnSpc>
                <a:spcPct val="104000"/>
              </a:lnSpc>
              <a:buNone/>
            </a:pPr>
            <a:r>
              <a:rPr lang="en-US" sz="1250" dirty="0">
                <a:solidFill>
                  <a:srgbClr val="CFCBBF"/>
                </a:solidFill>
                <a:latin typeface="Prata" pitchFamily="34" charset="0"/>
                <a:ea typeface="Prata" pitchFamily="34" charset="-122"/>
                <a:cs typeface="Prata" pitchFamily="34" charset="-120"/>
              </a:rPr>
              <a:t>Admin Dashboard</a:t>
            </a:r>
            <a:endParaRPr lang="en-US" sz="1250" dirty="0"/>
          </a:p>
        </p:txBody>
      </p:sp>
      <p:sp>
        <p:nvSpPr>
          <p:cNvPr id="10" name="Text 6"/>
          <p:cNvSpPr/>
          <p:nvPr/>
        </p:nvSpPr>
        <p:spPr>
          <a:xfrm>
            <a:off x="870821" y="2562225"/>
            <a:ext cx="3225918" cy="864691"/>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Full administrative control over the system's user population. Administrators can define roles, assign granular permissions, set access levels per module, and audit user activity logs. The dashboard provides a unified view of all active and inactive accounts.</a:t>
            </a:r>
            <a:endParaRPr lang="en-US" sz="10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31981" y="1806773"/>
            <a:ext cx="3527634" cy="1943894"/>
          </a:xfrm>
          <a:prstGeom prst="rect">
            <a:avLst/>
          </a:prstGeom>
        </p:spPr>
      </p:pic>
      <p:sp>
        <p:nvSpPr>
          <p:cNvPr id="12" name="Text 7"/>
          <p:cNvSpPr/>
          <p:nvPr/>
        </p:nvSpPr>
        <p:spPr>
          <a:xfrm>
            <a:off x="5996929" y="1899940"/>
            <a:ext cx="197639" cy="247055"/>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Prata" pitchFamily="34" charset="0"/>
                <a:ea typeface="Prata" pitchFamily="34" charset="-122"/>
                <a:cs typeface="Prata" pitchFamily="34" charset="-120"/>
              </a:rPr>
              <a:t>2</a:t>
            </a:r>
            <a:endParaRPr lang="en-US" sz="1550" dirty="0"/>
          </a:p>
        </p:txBody>
      </p:sp>
      <p:sp>
        <p:nvSpPr>
          <p:cNvPr id="13" name="Text 8"/>
          <p:cNvSpPr/>
          <p:nvPr/>
        </p:nvSpPr>
        <p:spPr>
          <a:xfrm>
            <a:off x="4482789" y="2305645"/>
            <a:ext cx="3226017" cy="205978"/>
          </a:xfrm>
          <a:prstGeom prst="rect">
            <a:avLst/>
          </a:prstGeom>
          <a:noFill/>
          <a:ln/>
        </p:spPr>
        <p:txBody>
          <a:bodyPr wrap="none" lIns="0" tIns="0" rIns="0" bIns="0" rtlCol="0" anchor="t"/>
          <a:lstStyle/>
          <a:p>
            <a:pPr algn="l" indent="0" marL="0">
              <a:lnSpc>
                <a:spcPct val="104000"/>
              </a:lnSpc>
              <a:buNone/>
            </a:pPr>
            <a:r>
              <a:rPr lang="en-US" sz="1250" dirty="0">
                <a:solidFill>
                  <a:srgbClr val="CFCBBF"/>
                </a:solidFill>
                <a:latin typeface="Prata" pitchFamily="34" charset="0"/>
                <a:ea typeface="Prata" pitchFamily="34" charset="-122"/>
                <a:cs typeface="Prata" pitchFamily="34" charset="-120"/>
              </a:rPr>
              <a:t>Staff Profiles</a:t>
            </a:r>
            <a:endParaRPr lang="en-US" sz="1250" dirty="0"/>
          </a:p>
        </p:txBody>
      </p:sp>
      <p:sp>
        <p:nvSpPr>
          <p:cNvPr id="14" name="Text 9"/>
          <p:cNvSpPr/>
          <p:nvPr/>
        </p:nvSpPr>
        <p:spPr>
          <a:xfrm>
            <a:off x="4482789" y="2562225"/>
            <a:ext cx="3226017" cy="1037630"/>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Complete CRUD operations for staff accounts across all role types: </a:t>
            </a:r>
            <a:pPr algn="l" indent="0" marL="0">
              <a:lnSpc>
                <a:spcPct val="109000"/>
              </a:lnSpc>
              <a:buNone/>
            </a:pPr>
            <a:r>
              <a:rPr lang="en-US" sz="1000" b="1" dirty="0">
                <a:solidFill>
                  <a:srgbClr val="CFCBBF"/>
                </a:solidFill>
                <a:latin typeface="Raleway Bold" pitchFamily="34" charset="0"/>
                <a:ea typeface="Raleway Bold" pitchFamily="34" charset="-122"/>
                <a:cs typeface="Raleway Bold" pitchFamily="34" charset="-120"/>
              </a:rPr>
              <a:t>Manager</a:t>
            </a:r>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 </a:t>
            </a:r>
            <a:pPr algn="l" indent="0" marL="0">
              <a:lnSpc>
                <a:spcPct val="109000"/>
              </a:lnSpc>
              <a:buNone/>
            </a:pPr>
            <a:r>
              <a:rPr lang="en-US" sz="1000" b="1" dirty="0">
                <a:solidFill>
                  <a:srgbClr val="CFCBBF"/>
                </a:solidFill>
                <a:latin typeface="Raleway Bold" pitchFamily="34" charset="0"/>
                <a:ea typeface="Raleway Bold" pitchFamily="34" charset="-122"/>
                <a:cs typeface="Raleway Bold" pitchFamily="34" charset="-120"/>
              </a:rPr>
              <a:t>Receptionist</a:t>
            </a:r>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 </a:t>
            </a:r>
            <a:pPr algn="l" indent="0" marL="0">
              <a:lnSpc>
                <a:spcPct val="109000"/>
              </a:lnSpc>
              <a:buNone/>
            </a:pPr>
            <a:r>
              <a:rPr lang="en-US" sz="1000" b="1" dirty="0">
                <a:solidFill>
                  <a:srgbClr val="CFCBBF"/>
                </a:solidFill>
                <a:latin typeface="Raleway Bold" pitchFamily="34" charset="0"/>
                <a:ea typeface="Raleway Bold" pitchFamily="34" charset="-122"/>
                <a:cs typeface="Raleway Bold" pitchFamily="34" charset="-120"/>
              </a:rPr>
              <a:t>Housekeeping</a:t>
            </a:r>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 </a:t>
            </a:r>
            <a:pPr algn="l" indent="0" marL="0">
              <a:lnSpc>
                <a:spcPct val="109000"/>
              </a:lnSpc>
              <a:buNone/>
            </a:pPr>
            <a:r>
              <a:rPr lang="en-US" sz="1000" b="1" dirty="0">
                <a:solidFill>
                  <a:srgbClr val="CFCBBF"/>
                </a:solidFill>
                <a:latin typeface="Raleway Bold" pitchFamily="34" charset="0"/>
                <a:ea typeface="Raleway Bold" pitchFamily="34" charset="-122"/>
                <a:cs typeface="Raleway Bold" pitchFamily="34" charset="-120"/>
              </a:rPr>
              <a:t>Maintenance</a:t>
            </a:r>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 and </a:t>
            </a:r>
            <a:pPr algn="l" indent="0" marL="0">
              <a:lnSpc>
                <a:spcPct val="109000"/>
              </a:lnSpc>
              <a:buNone/>
            </a:pPr>
            <a:r>
              <a:rPr lang="en-US" sz="1000" b="1" dirty="0">
                <a:solidFill>
                  <a:srgbClr val="CFCBBF"/>
                </a:solidFill>
                <a:latin typeface="Raleway Bold" pitchFamily="34" charset="0"/>
                <a:ea typeface="Raleway Bold" pitchFamily="34" charset="-122"/>
                <a:cs typeface="Raleway Bold" pitchFamily="34" charset="-120"/>
              </a:rPr>
              <a:t>Accounts</a:t>
            </a:r>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 Admins can create, modify, temporarily suspend, or permanently deactivate accounts with an auditable change log.</a:t>
            </a:r>
            <a:endParaRPr lang="en-US" sz="10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44048" y="1806773"/>
            <a:ext cx="3527634" cy="1943894"/>
          </a:xfrm>
          <a:prstGeom prst="rect">
            <a:avLst/>
          </a:prstGeom>
        </p:spPr>
      </p:pic>
      <p:sp>
        <p:nvSpPr>
          <p:cNvPr id="16" name="Text 10"/>
          <p:cNvSpPr/>
          <p:nvPr/>
        </p:nvSpPr>
        <p:spPr>
          <a:xfrm>
            <a:off x="9608996" y="1899940"/>
            <a:ext cx="197639" cy="247055"/>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Prata" pitchFamily="34" charset="0"/>
                <a:ea typeface="Prata" pitchFamily="34" charset="-122"/>
                <a:cs typeface="Prata" pitchFamily="34" charset="-120"/>
              </a:rPr>
              <a:t>3</a:t>
            </a:r>
            <a:endParaRPr lang="en-US" sz="1550" dirty="0"/>
          </a:p>
        </p:txBody>
      </p:sp>
      <p:sp>
        <p:nvSpPr>
          <p:cNvPr id="17" name="Text 11"/>
          <p:cNvSpPr/>
          <p:nvPr/>
        </p:nvSpPr>
        <p:spPr>
          <a:xfrm>
            <a:off x="8094857" y="2305645"/>
            <a:ext cx="3226017" cy="205978"/>
          </a:xfrm>
          <a:prstGeom prst="rect">
            <a:avLst/>
          </a:prstGeom>
          <a:noFill/>
          <a:ln/>
        </p:spPr>
        <p:txBody>
          <a:bodyPr wrap="none" lIns="0" tIns="0" rIns="0" bIns="0" rtlCol="0" anchor="t"/>
          <a:lstStyle/>
          <a:p>
            <a:pPr algn="l" indent="0" marL="0">
              <a:lnSpc>
                <a:spcPct val="104000"/>
              </a:lnSpc>
              <a:buNone/>
            </a:pPr>
            <a:r>
              <a:rPr lang="en-US" sz="1250" dirty="0">
                <a:solidFill>
                  <a:srgbClr val="CFCBBF"/>
                </a:solidFill>
                <a:latin typeface="Prata" pitchFamily="34" charset="0"/>
                <a:ea typeface="Prata" pitchFamily="34" charset="-122"/>
                <a:cs typeface="Prata" pitchFamily="34" charset="-120"/>
              </a:rPr>
              <a:t>Guest Profiles</a:t>
            </a:r>
            <a:endParaRPr lang="en-US" sz="1250" dirty="0"/>
          </a:p>
        </p:txBody>
      </p:sp>
      <p:sp>
        <p:nvSpPr>
          <p:cNvPr id="18" name="Text 12"/>
          <p:cNvSpPr/>
          <p:nvPr/>
        </p:nvSpPr>
        <p:spPr>
          <a:xfrm>
            <a:off x="8094857" y="2562225"/>
            <a:ext cx="3226017" cy="1037630"/>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CFCBBF"/>
                </a:solidFill>
                <a:latin typeface="Raleway" pitchFamily="34" charset="0"/>
                <a:ea typeface="Raleway" pitchFamily="34" charset="-122"/>
                <a:cs typeface="Raleway" pitchFamily="34" charset="-120"/>
              </a:rPr>
              <a:t>Persistent guest records that store personal information, verified contact details, stated preferences (room type, floor, amenities), and complete booking history. Guest profiles support loyalty tracking and enable personalized service delivery across repeat visits.</a:t>
            </a:r>
            <a:endParaRPr lang="en-US" sz="1000" dirty="0"/>
          </a:p>
        </p:txBody>
      </p:sp>
      <p:sp>
        <p:nvSpPr>
          <p:cNvPr id="19" name="Text 13"/>
          <p:cNvSpPr/>
          <p:nvPr/>
        </p:nvSpPr>
        <p:spPr>
          <a:xfrm>
            <a:off x="720012" y="3930055"/>
            <a:ext cx="5215105" cy="205978"/>
          </a:xfrm>
          <a:prstGeom prst="rect">
            <a:avLst/>
          </a:prstGeom>
          <a:noFill/>
          <a:ln/>
        </p:spPr>
        <p:txBody>
          <a:bodyPr wrap="none" lIns="0" tIns="0" rIns="0" bIns="0" rtlCol="0" anchor="t"/>
          <a:lstStyle/>
          <a:p>
            <a:pPr algn="l" indent="0" marL="0">
              <a:lnSpc>
                <a:spcPct val="104000"/>
              </a:lnSpc>
              <a:buNone/>
            </a:pPr>
            <a:r>
              <a:rPr lang="en-US" sz="1250" dirty="0">
                <a:solidFill>
                  <a:srgbClr val="F2E782"/>
                </a:solidFill>
                <a:latin typeface="Prata" pitchFamily="34" charset="0"/>
                <a:ea typeface="Prata" pitchFamily="34" charset="-122"/>
                <a:cs typeface="Prata" pitchFamily="34" charset="-120"/>
              </a:rPr>
              <a:t>Role Hierarchy</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20012" y="4230985"/>
          <a:ext cx="9143771" cy="914400"/>
        </p:xfrm>
        <a:graphic>
          <a:graphicData uri="http://schemas.openxmlformats.org/drawingml/2006/table">
            <a:tbl>
              <a:tblPr/>
              <a:tblGrid>
                <a:gridCol w="2086042"/>
                <a:gridCol w="3129063"/>
              </a:tblGrid>
              <a:tr h="290009">
                <a:tc>
                  <a:txBody>
                    <a:bodyPr/>
                    <a:lstStyle/>
                    <a:p>
                      <a:pPr indent="0" marL="0">
                        <a:buNone/>
                      </a:pPr>
                      <a:r>
                        <a:rPr lang="en-US" sz="1000" b="1" dirty="0">
                          <a:solidFill>
                            <a:srgbClr val="CFCBBF"/>
                          </a:solidFill>
                          <a:latin typeface="Raleway" pitchFamily="34" charset="0"/>
                          <a:ea typeface="Raleway" pitchFamily="34" charset="-122"/>
                          <a:cs typeface="Raleway" pitchFamily="34" charset="-120"/>
                        </a:rPr>
                        <a:t>Role</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b="1" dirty="0">
                          <a:solidFill>
                            <a:srgbClr val="272525"/>
                          </a:solidFill>
                          <a:latin typeface="Raleway" pitchFamily="34" charset="0"/>
                          <a:ea typeface="Raleway" pitchFamily="34" charset="-122"/>
                          <a:cs typeface="Raleway" pitchFamily="34" charset="-120"/>
                        </a:rPr>
                        <a:t>Primary Access Scope</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r h="466118">
                <a:tc>
                  <a:txBody>
                    <a:bodyPr/>
                    <a:lstStyle/>
                    <a:p>
                      <a:pPr indent="0" marL="0">
                        <a:buNone/>
                      </a:pPr>
                      <a:r>
                        <a:rPr lang="en-US" sz="1000" dirty="0">
                          <a:solidFill>
                            <a:srgbClr val="CFCBBF"/>
                          </a:solidFill>
                          <a:latin typeface="Raleway" pitchFamily="34" charset="0"/>
                          <a:ea typeface="Raleway" pitchFamily="34" charset="-122"/>
                          <a:cs typeface="Raleway" pitchFamily="34" charset="-120"/>
                        </a:rPr>
                        <a:t>Administrator</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dirty="0">
                          <a:solidFill>
                            <a:srgbClr val="272525"/>
                          </a:solidFill>
                          <a:latin typeface="Raleway" pitchFamily="34" charset="0"/>
                          <a:ea typeface="Raleway" pitchFamily="34" charset="-122"/>
                          <a:cs typeface="Raleway" pitchFamily="34" charset="-120"/>
                        </a:rPr>
                        <a:t>Full system access, user management, reporting</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r h="293184">
                <a:tc>
                  <a:txBody>
                    <a:bodyPr/>
                    <a:lstStyle/>
                    <a:p>
                      <a:pPr indent="0" marL="0">
                        <a:buNone/>
                      </a:pPr>
                      <a:r>
                        <a:rPr lang="en-US" sz="1000" dirty="0">
                          <a:solidFill>
                            <a:srgbClr val="CFCBBF"/>
                          </a:solidFill>
                          <a:latin typeface="Raleway" pitchFamily="34" charset="0"/>
                          <a:ea typeface="Raleway" pitchFamily="34" charset="-122"/>
                          <a:cs typeface="Raleway" pitchFamily="34" charset="-120"/>
                        </a:rPr>
                        <a:t>Manager</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dirty="0">
                          <a:solidFill>
                            <a:srgbClr val="272525"/>
                          </a:solidFill>
                          <a:latin typeface="Raleway" pitchFamily="34" charset="0"/>
                          <a:ea typeface="Raleway" pitchFamily="34" charset="-122"/>
                          <a:cs typeface="Raleway" pitchFamily="34" charset="-120"/>
                        </a:rPr>
                        <a:t>Operations, billing overrides, staff scheduling</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r h="293184">
                <a:tc>
                  <a:txBody>
                    <a:bodyPr/>
                    <a:lstStyle/>
                    <a:p>
                      <a:pPr indent="0" marL="0">
                        <a:buNone/>
                      </a:pPr>
                      <a:r>
                        <a:rPr lang="en-US" sz="1000" dirty="0">
                          <a:solidFill>
                            <a:srgbClr val="CFCBBF"/>
                          </a:solidFill>
                          <a:latin typeface="Raleway" pitchFamily="34" charset="0"/>
                          <a:ea typeface="Raleway" pitchFamily="34" charset="-122"/>
                          <a:cs typeface="Raleway" pitchFamily="34" charset="-120"/>
                        </a:rPr>
                        <a:t>Receptionist</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dirty="0">
                          <a:solidFill>
                            <a:srgbClr val="272525"/>
                          </a:solidFill>
                          <a:latin typeface="Raleway" pitchFamily="34" charset="0"/>
                          <a:ea typeface="Raleway" pitchFamily="34" charset="-122"/>
                          <a:cs typeface="Raleway" pitchFamily="34" charset="-120"/>
                        </a:rPr>
                        <a:t>Reservations, check-in/out, guest profiles</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r h="293184">
                <a:tc>
                  <a:txBody>
                    <a:bodyPr/>
                    <a:lstStyle/>
                    <a:p>
                      <a:pPr indent="0" marL="0">
                        <a:buNone/>
                      </a:pPr>
                      <a:r>
                        <a:rPr lang="en-US" sz="1000" dirty="0">
                          <a:solidFill>
                            <a:srgbClr val="CFCBBF"/>
                          </a:solidFill>
                          <a:latin typeface="Raleway" pitchFamily="34" charset="0"/>
                          <a:ea typeface="Raleway" pitchFamily="34" charset="-122"/>
                          <a:cs typeface="Raleway" pitchFamily="34" charset="-120"/>
                        </a:rPr>
                        <a:t>Housekeeping</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dirty="0">
                          <a:solidFill>
                            <a:srgbClr val="272525"/>
                          </a:solidFill>
                          <a:latin typeface="Raleway" pitchFamily="34" charset="0"/>
                          <a:ea typeface="Raleway" pitchFamily="34" charset="-122"/>
                          <a:cs typeface="Raleway" pitchFamily="34" charset="-120"/>
                        </a:rPr>
                        <a:t>Room status, task queue, completion reporting</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r h="290009">
                <a:tc>
                  <a:txBody>
                    <a:bodyPr/>
                    <a:lstStyle/>
                    <a:p>
                      <a:pPr indent="0" marL="0">
                        <a:buNone/>
                      </a:pPr>
                      <a:r>
                        <a:rPr lang="en-US" sz="1000" dirty="0">
                          <a:solidFill>
                            <a:srgbClr val="CFCBBF"/>
                          </a:solidFill>
                          <a:latin typeface="Raleway" pitchFamily="34" charset="0"/>
                          <a:ea typeface="Raleway" pitchFamily="34" charset="-122"/>
                          <a:cs typeface="Raleway" pitchFamily="34" charset="-120"/>
                        </a:rPr>
                        <a:t>Maintenance</a:t>
                      </a:r>
                      <a:endParaRPr lang="en-US" sz="1000" dirty="0">
                        <a:latin typeface="Raleway" charset="0"/>
                        <a:ea typeface="Raleway" charset="0"/>
                        <a:cs typeface="Raleway" charset="0"/>
                      </a:endParaRPr>
                    </a:p>
                  </a:txBody>
                  <a:tcPr marL="131799" marR="131799"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1000" dirty="0">
                          <a:solidFill>
                            <a:srgbClr val="272525"/>
                          </a:solidFill>
                          <a:latin typeface="Raleway" pitchFamily="34" charset="0"/>
                          <a:ea typeface="Raleway" pitchFamily="34" charset="-122"/>
                          <a:cs typeface="Raleway" pitchFamily="34" charset="-120"/>
                        </a:rPr>
                        <a:t>Issue tickets, status updates, work orders</a:t>
                      </a:r>
                      <a:endParaRPr lang="en-US" sz="1000" dirty="0">
                        <a:latin typeface="Raleway" charset="0"/>
                        <a:ea typeface="Raleway" charset="0"/>
                        <a:cs typeface="Raleway" charset="0"/>
                      </a:endParaRPr>
                    </a:p>
                  </a:txBody>
                  <a:tcPr marL="131799" marR="131799" marT="6350" marB="6350" anchor="ctr">
                    <a:lnL w="12700" cap="flat" cmpd="sng" algn="ctr">
                      <a:solidFill>
                        <a:srgbClr val="F9D933"/>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F9D933"/>
                    </a:solidFill>
                  </a:tcPr>
                </a:tc>
              </a:tr>
            </a:tbl>
          </a:graphicData>
        </a:graphic>
      </p:graphicFrame>
      <p:sp>
        <p:nvSpPr>
          <p:cNvPr id="21" name="Text 14"/>
          <p:cNvSpPr/>
          <p:nvPr/>
        </p:nvSpPr>
        <p:spPr>
          <a:xfrm>
            <a:off x="6262928" y="3930055"/>
            <a:ext cx="5215105" cy="205978"/>
          </a:xfrm>
          <a:prstGeom prst="rect">
            <a:avLst/>
          </a:prstGeom>
          <a:noFill/>
          <a:ln/>
        </p:spPr>
        <p:txBody>
          <a:bodyPr wrap="none" lIns="0" tIns="0" rIns="0" bIns="0" rtlCol="0" anchor="t"/>
          <a:lstStyle/>
          <a:p>
            <a:pPr algn="l" indent="0" marL="0">
              <a:lnSpc>
                <a:spcPct val="104000"/>
              </a:lnSpc>
              <a:buNone/>
            </a:pPr>
            <a:r>
              <a:rPr lang="en-US" sz="1250" dirty="0">
                <a:solidFill>
                  <a:srgbClr val="F2E782"/>
                </a:solidFill>
                <a:latin typeface="Prata" pitchFamily="34" charset="0"/>
                <a:ea typeface="Prata" pitchFamily="34" charset="-122"/>
                <a:cs typeface="Prata" pitchFamily="34" charset="-120"/>
              </a:rPr>
              <a:t>Authentication Requirements</a:t>
            </a:r>
            <a:endParaRPr lang="en-US" sz="1250" dirty="0"/>
          </a:p>
        </p:txBody>
      </p:sp>
      <p:sp>
        <p:nvSpPr>
          <p:cNvPr id="22" name="Text 15"/>
          <p:cNvSpPr/>
          <p:nvPr/>
        </p:nvSpPr>
        <p:spPr>
          <a:xfrm>
            <a:off x="6262928" y="4220468"/>
            <a:ext cx="5215105" cy="1184970"/>
          </a:xfrm>
          <a:prstGeom prst="rect">
            <a:avLst/>
          </a:prstGeom>
          <a:noFill/>
          <a:ln/>
        </p:spPr>
        <p:txBody>
          <a:bodyPr wrap="square" lIns="0" tIns="52720" rIns="0" bIns="0" rtlCol="0" anchor="t">
            <a:normAutofit/>
          </a:bodyPr>
          <a:lstStyle/>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JWT-based stateless authentication with refresh token rotation</a:t>
            </a:r>
            <a:endParaRPr lang="en-US" sz="1000" dirty="0"/>
          </a:p>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bcrypt password hashing (minimum cost factor: 12)</a:t>
            </a:r>
            <a:endParaRPr lang="en-US" sz="1000" dirty="0"/>
          </a:p>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Session timeout after 30 minutes of inactivity</a:t>
            </a:r>
            <a:endParaRPr lang="en-US" sz="1000" dirty="0"/>
          </a:p>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Failed login attempt lockout after 5 consecutive failures</a:t>
            </a:r>
            <a:endParaRPr lang="en-US" sz="1000" dirty="0"/>
          </a:p>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Role-based route guards on all protected API endpoints</a:t>
            </a:r>
            <a:endParaRPr lang="en-US" sz="1000" dirty="0"/>
          </a:p>
          <a:p>
            <a:pPr algn="l" marL="203200" indent="-203200">
              <a:lnSpc>
                <a:spcPct val="109000"/>
              </a:lnSpc>
              <a:buSzPct val="100000"/>
              <a:buChar char="•"/>
            </a:pPr>
            <a:r>
              <a:rPr lang="en-US" sz="1000" dirty="0">
                <a:solidFill>
                  <a:srgbClr val="CFCBBF"/>
                </a:solidFill>
                <a:latin typeface="Raleway" pitchFamily="34" charset="0"/>
                <a:ea typeface="Raleway" pitchFamily="34" charset="-122"/>
                <a:cs typeface="Raleway" pitchFamily="34" charset="-120"/>
              </a:rPr>
              <a:t>Password reset via verified email link (24-hour expiry)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20012" y="565745"/>
            <a:ext cx="1219170" cy="156270"/>
          </a:xfrm>
          <a:prstGeom prst="roundRect">
            <a:avLst>
              <a:gd name="adj" fmla="val 7899"/>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81725" y="602754"/>
            <a:ext cx="82250" cy="82252"/>
          </a:xfrm>
          <a:prstGeom prst="rect">
            <a:avLst/>
          </a:prstGeom>
        </p:spPr>
      </p:pic>
      <p:sp>
        <p:nvSpPr>
          <p:cNvPr id="4" name="Text 1"/>
          <p:cNvSpPr/>
          <p:nvPr/>
        </p:nvSpPr>
        <p:spPr>
          <a:xfrm>
            <a:off x="905051" y="596602"/>
            <a:ext cx="1582003" cy="94555"/>
          </a:xfrm>
          <a:prstGeom prst="rect">
            <a:avLst/>
          </a:prstGeom>
          <a:noFill/>
          <a:ln/>
        </p:spPr>
        <p:txBody>
          <a:bodyPr wrap="none" lIns="0" tIns="0" rIns="0" bIns="0" rtlCol="0" anchor="t"/>
          <a:lstStyle/>
          <a:p>
            <a:pPr algn="l" indent="0" marL="0">
              <a:lnSpc>
                <a:spcPct val="96000"/>
              </a:lnSpc>
              <a:buNone/>
            </a:pPr>
            <a:r>
              <a:rPr lang="en-US" sz="600" dirty="0">
                <a:solidFill>
                  <a:srgbClr val="CFCBBF"/>
                </a:solidFill>
                <a:latin typeface="Raleway" pitchFamily="34" charset="0"/>
                <a:ea typeface="Raleway" pitchFamily="34" charset="-122"/>
                <a:cs typeface="Raleway" pitchFamily="34" charset="-120"/>
              </a:rPr>
              <a:t>CHAPTER 2 · SECTION 2.2</a:t>
            </a:r>
            <a:endParaRPr lang="en-US" sz="600" dirty="0"/>
          </a:p>
        </p:txBody>
      </p:sp>
      <p:sp>
        <p:nvSpPr>
          <p:cNvPr id="5" name="Text 2"/>
          <p:cNvSpPr/>
          <p:nvPr/>
        </p:nvSpPr>
        <p:spPr>
          <a:xfrm>
            <a:off x="720012" y="742553"/>
            <a:ext cx="10751670" cy="321469"/>
          </a:xfrm>
          <a:prstGeom prst="rect">
            <a:avLst/>
          </a:prstGeom>
          <a:noFill/>
          <a:ln/>
        </p:spPr>
        <p:txBody>
          <a:bodyPr wrap="none" lIns="0" tIns="0" rIns="0" bIns="0" rtlCol="0" anchor="t"/>
          <a:lstStyle/>
          <a:p>
            <a:pPr algn="l" indent="0" marL="0">
              <a:lnSpc>
                <a:spcPct val="104000"/>
              </a:lnSpc>
              <a:buNone/>
            </a:pPr>
            <a:r>
              <a:rPr lang="en-US" sz="2000" dirty="0">
                <a:solidFill>
                  <a:srgbClr val="F2E782"/>
                </a:solidFill>
                <a:latin typeface="Prata" pitchFamily="34" charset="0"/>
                <a:ea typeface="Prata" pitchFamily="34" charset="-122"/>
                <a:cs typeface="Prata" pitchFamily="34" charset="-120"/>
              </a:rPr>
              <a:t>Functional Requirements — Room Management</a:t>
            </a:r>
            <a:endParaRPr lang="en-US" sz="2000" dirty="0"/>
          </a:p>
        </p:txBody>
      </p:sp>
      <p:sp>
        <p:nvSpPr>
          <p:cNvPr id="6" name="Text 3"/>
          <p:cNvSpPr/>
          <p:nvPr/>
        </p:nvSpPr>
        <p:spPr>
          <a:xfrm>
            <a:off x="720012" y="1141115"/>
            <a:ext cx="10751670"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The room management module is the operational core of the HMS. It maintains a live, accurate inventory of every room's physical attributes, pricing configuration, and real-time availability status — the single source of truth for all reservation and housekeeping decisions.</a:t>
            </a:r>
            <a:endParaRPr lang="en-US" sz="800" dirty="0"/>
          </a:p>
        </p:txBody>
      </p:sp>
      <p:sp>
        <p:nvSpPr>
          <p:cNvPr id="7" name="Shape 4"/>
          <p:cNvSpPr/>
          <p:nvPr/>
        </p:nvSpPr>
        <p:spPr>
          <a:xfrm>
            <a:off x="645997" y="1445816"/>
            <a:ext cx="5398456" cy="1245592"/>
          </a:xfrm>
          <a:prstGeom prst="roundRect">
            <a:avLst>
              <a:gd name="adj" fmla="val 1239"/>
            </a:avLst>
          </a:prstGeom>
          <a:solidFill>
            <a:srgbClr val="FCEC99"/>
          </a:solidFill>
          <a:ln/>
        </p:spPr>
      </p:sp>
      <p:sp>
        <p:nvSpPr>
          <p:cNvPr id="8" name="Text 5"/>
          <p:cNvSpPr/>
          <p:nvPr/>
        </p:nvSpPr>
        <p:spPr>
          <a:xfrm>
            <a:off x="748785" y="1497211"/>
            <a:ext cx="5192880" cy="160734"/>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Prata" pitchFamily="34" charset="0"/>
                <a:ea typeface="Prata" pitchFamily="34" charset="-122"/>
                <a:cs typeface="Prata" pitchFamily="34" charset="-120"/>
              </a:rPr>
              <a:t>Room Inventory Tracking</a:t>
            </a:r>
            <a:endParaRPr lang="en-US" sz="1000" dirty="0"/>
          </a:p>
        </p:txBody>
      </p:sp>
      <p:sp>
        <p:nvSpPr>
          <p:cNvPr id="9" name="Text 6"/>
          <p:cNvSpPr/>
          <p:nvPr/>
        </p:nvSpPr>
        <p:spPr>
          <a:xfrm>
            <a:off x="748785" y="1709341"/>
            <a:ext cx="5192880"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000000"/>
                </a:solidFill>
                <a:latin typeface="Raleway" pitchFamily="34" charset="0"/>
                <a:ea typeface="Raleway" pitchFamily="34" charset="-122"/>
                <a:cs typeface="Raleway" pitchFamily="34" charset="-120"/>
              </a:rPr>
              <a:t>The system maintains a complete catalog of rooms, each defined by type, floor, capacity, amenity package, base price, and current status. Status values flow through a finite state machine ensuring data integrity across concurrent staff operations.</a:t>
            </a:r>
            <a:endParaRPr lang="en-US" sz="800" dirty="0"/>
          </a:p>
        </p:txBody>
      </p:sp>
      <p:sp>
        <p:nvSpPr>
          <p:cNvPr id="10" name="Text 7"/>
          <p:cNvSpPr/>
          <p:nvPr/>
        </p:nvSpPr>
        <p:spPr>
          <a:xfrm>
            <a:off x="748785" y="2125861"/>
            <a:ext cx="5192880" cy="406202"/>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b="1" dirty="0">
                <a:solidFill>
                  <a:srgbClr val="000000"/>
                </a:solidFill>
                <a:latin typeface="Raleway Bold" pitchFamily="34" charset="0"/>
                <a:ea typeface="Raleway Bold" pitchFamily="34" charset="-122"/>
                <a:cs typeface="Raleway Bold" pitchFamily="34" charset="-120"/>
              </a:rPr>
              <a:t>Types:</a:t>
            </a:r>
            <a:pPr algn="l" marL="162560" indent="-162560">
              <a:lnSpc>
                <a:spcPct val="100000"/>
              </a:lnSpc>
              <a:buSzPct val="100000"/>
              <a:buChar char="•"/>
            </a:pPr>
            <a:r>
              <a:rPr lang="en-US" sz="800" dirty="0">
                <a:solidFill>
                  <a:srgbClr val="000000"/>
                </a:solidFill>
                <a:latin typeface="Raleway" pitchFamily="34" charset="0"/>
                <a:ea typeface="Raleway" pitchFamily="34" charset="-122"/>
                <a:cs typeface="Raleway" pitchFamily="34" charset="-120"/>
              </a:rPr>
              <a:t> Standard, Deluxe, Suite, Executive, Presidential</a:t>
            </a:r>
            <a:endParaRPr lang="en-US" sz="800" dirty="0"/>
          </a:p>
          <a:p>
            <a:pPr algn="l" marL="162560" indent="-162560">
              <a:lnSpc>
                <a:spcPct val="100000"/>
              </a:lnSpc>
              <a:buSzPct val="100000"/>
              <a:buChar char="•"/>
            </a:pPr>
            <a:r>
              <a:rPr lang="en-US" sz="800" b="1" dirty="0">
                <a:solidFill>
                  <a:srgbClr val="000000"/>
                </a:solidFill>
                <a:latin typeface="Raleway Bold" pitchFamily="34" charset="0"/>
                <a:ea typeface="Raleway Bold" pitchFamily="34" charset="-122"/>
                <a:cs typeface="Raleway Bold" pitchFamily="34" charset="-120"/>
              </a:rPr>
              <a:t>Status States:</a:t>
            </a:r>
            <a:pPr algn="l" marL="162560" indent="-162560">
              <a:lnSpc>
                <a:spcPct val="100000"/>
              </a:lnSpc>
              <a:buSzPct val="100000"/>
              <a:buChar char="•"/>
            </a:pPr>
            <a:r>
              <a:rPr lang="en-US" sz="800" dirty="0">
                <a:solidFill>
                  <a:srgbClr val="000000"/>
                </a:solidFill>
                <a:latin typeface="Raleway" pitchFamily="34" charset="0"/>
                <a:ea typeface="Raleway" pitchFamily="34" charset="-122"/>
                <a:cs typeface="Raleway" pitchFamily="34" charset="-120"/>
              </a:rPr>
              <a:t> Available, Occupied, Cleaning, Maintenance, Out-of-Order</a:t>
            </a:r>
            <a:endParaRPr lang="en-US" sz="800" dirty="0"/>
          </a:p>
          <a:p>
            <a:pPr algn="l" marL="162560" indent="-162560">
              <a:lnSpc>
                <a:spcPct val="100000"/>
              </a:lnSpc>
              <a:buSzPct val="100000"/>
              <a:buChar char="•"/>
            </a:pPr>
            <a:r>
              <a:rPr lang="en-US" sz="800" b="1" dirty="0">
                <a:solidFill>
                  <a:srgbClr val="000000"/>
                </a:solidFill>
                <a:latin typeface="Raleway Bold" pitchFamily="34" charset="0"/>
                <a:ea typeface="Raleway Bold" pitchFamily="34" charset="-122"/>
                <a:cs typeface="Raleway Bold" pitchFamily="34" charset="-120"/>
              </a:rPr>
              <a:t>Pricing:</a:t>
            </a:r>
            <a:pPr algn="l" marL="162560" indent="-162560">
              <a:lnSpc>
                <a:spcPct val="100000"/>
              </a:lnSpc>
              <a:buSzPct val="100000"/>
              <a:buChar char="•"/>
            </a:pPr>
            <a:r>
              <a:rPr lang="en-US" sz="800" dirty="0">
                <a:solidFill>
                  <a:srgbClr val="000000"/>
                </a:solidFill>
                <a:latin typeface="Raleway" pitchFamily="34" charset="0"/>
                <a:ea typeface="Raleway" pitchFamily="34" charset="-122"/>
                <a:cs typeface="Raleway" pitchFamily="34" charset="-120"/>
              </a:rPr>
              <a:t> Dynamic rates by room type, season, and occupancy demand</a:t>
            </a:r>
            <a:endParaRPr lang="en-US" sz="800" dirty="0"/>
          </a:p>
        </p:txBody>
      </p:sp>
      <p:sp>
        <p:nvSpPr>
          <p:cNvPr id="11" name="Text 8"/>
          <p:cNvSpPr/>
          <p:nvPr/>
        </p:nvSpPr>
        <p:spPr>
          <a:xfrm>
            <a:off x="6227607" y="1497211"/>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Room Booking Engine</a:t>
            </a:r>
            <a:endParaRPr lang="en-US" sz="1000" dirty="0"/>
          </a:p>
        </p:txBody>
      </p:sp>
      <p:sp>
        <p:nvSpPr>
          <p:cNvPr id="12" name="Text 9"/>
          <p:cNvSpPr/>
          <p:nvPr/>
        </p:nvSpPr>
        <p:spPr>
          <a:xfrm>
            <a:off x="6227607" y="1709341"/>
            <a:ext cx="5250426"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The booking engine processes availability queries in real time, preventing double-booking through optimistic locking at the database level. Room assignment logic considers guest preferences, room tier, and current occupancy patterns.</a:t>
            </a:r>
            <a:endParaRPr lang="en-US" sz="800" dirty="0"/>
          </a:p>
        </p:txBody>
      </p:sp>
      <p:sp>
        <p:nvSpPr>
          <p:cNvPr id="13" name="Text 10"/>
          <p:cNvSpPr/>
          <p:nvPr/>
        </p:nvSpPr>
        <p:spPr>
          <a:xfrm>
            <a:off x="6227607" y="2125861"/>
            <a:ext cx="5250426" cy="547588"/>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Date-range availability search with conflict detection</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Automatic room suggestion based on guest preference profile</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Override capability for managers with audit trail</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Bulk block booking for corporate and event reservations</a:t>
            </a:r>
            <a:endParaRPr lang="en-US" sz="800" dirty="0"/>
          </a:p>
        </p:txBody>
      </p:sp>
      <p:pic>
        <p:nvPicPr>
          <p:cNvPr id="14" name="Image 1" descr="preencoded.png">    </p:cNvPr>
          <p:cNvPicPr>
            <a:picLocks noChangeAspect="1"/>
          </p:cNvPicPr>
          <p:nvPr/>
        </p:nvPicPr>
        <p:blipFill>
          <a:blip r:embed="rId2"/>
          <a:stretch>
            <a:fillRect/>
          </a:stretch>
        </p:blipFill>
        <p:spPr>
          <a:xfrm>
            <a:off x="806827" y="2749252"/>
            <a:ext cx="10577942" cy="5200055"/>
          </a:xfrm>
          <a:prstGeom prst="rect">
            <a:avLst/>
          </a:prstGeom>
        </p:spPr>
      </p:pic>
      <p:sp>
        <p:nvSpPr>
          <p:cNvPr id="15" name="Text 11"/>
          <p:cNvSpPr/>
          <p:nvPr/>
        </p:nvSpPr>
        <p:spPr>
          <a:xfrm>
            <a:off x="5982887" y="3236756"/>
            <a:ext cx="2419077" cy="302392"/>
          </a:xfrm>
          <a:prstGeom prst="rect">
            <a:avLst/>
          </a:prstGeom>
          <a:noFill/>
          <a:ln/>
        </p:spPr>
        <p:txBody>
          <a:bodyPr wrap="none" lIns="0" tIns="0" rIns="0" bIns="0" rtlCol="0" anchor="t"/>
          <a:lstStyle/>
          <a:p>
            <a:pPr algn="l" indent="0" marL="0">
              <a:lnSpc>
                <a:spcPct val="104000"/>
              </a:lnSpc>
              <a:buNone/>
            </a:pPr>
            <a:r>
              <a:rPr lang="en-US" sz="1900" dirty="0">
                <a:solidFill>
                  <a:srgbClr val="CFCBBF"/>
                </a:solidFill>
                <a:latin typeface="Prata" pitchFamily="34" charset="0"/>
                <a:ea typeface="Prata" pitchFamily="34" charset="-122"/>
                <a:cs typeface="Prata" pitchFamily="34" charset="-120"/>
              </a:rPr>
              <a:t>Maintenance</a:t>
            </a:r>
            <a:endParaRPr lang="en-US" sz="1900" dirty="0"/>
          </a:p>
        </p:txBody>
      </p:sp>
      <p:sp>
        <p:nvSpPr>
          <p:cNvPr id="16" name="Text 12"/>
          <p:cNvSpPr/>
          <p:nvPr/>
        </p:nvSpPr>
        <p:spPr>
          <a:xfrm>
            <a:off x="5982887" y="3625162"/>
            <a:ext cx="4891911" cy="181435"/>
          </a:xfrm>
          <a:prstGeom prst="rect">
            <a:avLst/>
          </a:prstGeom>
          <a:noFill/>
          <a:ln/>
        </p:spPr>
        <p:txBody>
          <a:bodyPr wrap="none" lIns="0" tIns="0" rIns="0" bIns="0" rtlCol="0" anchor="t"/>
          <a:lstStyle/>
          <a:p>
            <a:pPr algn="l" indent="0" marL="0">
              <a:lnSpc>
                <a:spcPct val="78000"/>
              </a:lnSpc>
              <a:buNone/>
            </a:pPr>
            <a:r>
              <a:rPr lang="en-US" sz="1500" dirty="0">
                <a:solidFill>
                  <a:srgbClr val="CFCBBF"/>
                </a:solidFill>
                <a:latin typeface="Raleway" pitchFamily="34" charset="0"/>
                <a:ea typeface="Raleway" pitchFamily="34" charset="-122"/>
                <a:cs typeface="Raleway" pitchFamily="34" charset="-120"/>
              </a:rPr>
              <a:t>Out of service</a:t>
            </a:r>
            <a:endParaRPr lang="en-US" sz="1500" dirty="0"/>
          </a:p>
        </p:txBody>
      </p:sp>
      <p:sp>
        <p:nvSpPr>
          <p:cNvPr id="17" name="Text 13"/>
          <p:cNvSpPr/>
          <p:nvPr/>
        </p:nvSpPr>
        <p:spPr>
          <a:xfrm>
            <a:off x="5982887" y="4451701"/>
            <a:ext cx="2419077" cy="302392"/>
          </a:xfrm>
          <a:prstGeom prst="rect">
            <a:avLst/>
          </a:prstGeom>
          <a:noFill/>
          <a:ln/>
        </p:spPr>
        <p:txBody>
          <a:bodyPr wrap="none" lIns="0" tIns="0" rIns="0" bIns="0" rtlCol="0" anchor="t"/>
          <a:lstStyle/>
          <a:p>
            <a:pPr algn="l" indent="0" marL="0">
              <a:lnSpc>
                <a:spcPct val="104000"/>
              </a:lnSpc>
              <a:buNone/>
            </a:pPr>
            <a:r>
              <a:rPr lang="en-US" sz="1900" dirty="0">
                <a:solidFill>
                  <a:srgbClr val="CFCBBF"/>
                </a:solidFill>
                <a:latin typeface="Prata" pitchFamily="34" charset="0"/>
                <a:ea typeface="Prata" pitchFamily="34" charset="-122"/>
                <a:cs typeface="Prata" pitchFamily="34" charset="-120"/>
              </a:rPr>
              <a:t>Cleaning</a:t>
            </a:r>
            <a:endParaRPr lang="en-US" sz="1900" dirty="0"/>
          </a:p>
        </p:txBody>
      </p:sp>
      <p:sp>
        <p:nvSpPr>
          <p:cNvPr id="18" name="Text 14"/>
          <p:cNvSpPr/>
          <p:nvPr/>
        </p:nvSpPr>
        <p:spPr>
          <a:xfrm>
            <a:off x="5982887" y="4840107"/>
            <a:ext cx="4891911" cy="181435"/>
          </a:xfrm>
          <a:prstGeom prst="rect">
            <a:avLst/>
          </a:prstGeom>
          <a:noFill/>
          <a:ln/>
        </p:spPr>
        <p:txBody>
          <a:bodyPr wrap="none" lIns="0" tIns="0" rIns="0" bIns="0" rtlCol="0" anchor="t"/>
          <a:lstStyle/>
          <a:p>
            <a:pPr algn="l" indent="0" marL="0">
              <a:lnSpc>
                <a:spcPct val="78000"/>
              </a:lnSpc>
              <a:buNone/>
            </a:pPr>
            <a:r>
              <a:rPr lang="en-US" sz="1500" dirty="0">
                <a:solidFill>
                  <a:srgbClr val="CFCBBF"/>
                </a:solidFill>
                <a:latin typeface="Raleway" pitchFamily="34" charset="0"/>
                <a:ea typeface="Raleway" pitchFamily="34" charset="-122"/>
                <a:cs typeface="Raleway" pitchFamily="34" charset="-120"/>
              </a:rPr>
              <a:t>Preparing after checkout</a:t>
            </a:r>
            <a:endParaRPr lang="en-US" sz="1500" dirty="0"/>
          </a:p>
        </p:txBody>
      </p:sp>
      <p:sp>
        <p:nvSpPr>
          <p:cNvPr id="19" name="Text 15"/>
          <p:cNvSpPr/>
          <p:nvPr/>
        </p:nvSpPr>
        <p:spPr>
          <a:xfrm>
            <a:off x="5982887" y="5666645"/>
            <a:ext cx="2419077" cy="302392"/>
          </a:xfrm>
          <a:prstGeom prst="rect">
            <a:avLst/>
          </a:prstGeom>
          <a:noFill/>
          <a:ln/>
        </p:spPr>
        <p:txBody>
          <a:bodyPr wrap="none" lIns="0" tIns="0" rIns="0" bIns="0" rtlCol="0" anchor="t"/>
          <a:lstStyle/>
          <a:p>
            <a:pPr algn="l" indent="0" marL="0">
              <a:lnSpc>
                <a:spcPct val="104000"/>
              </a:lnSpc>
              <a:buNone/>
            </a:pPr>
            <a:r>
              <a:rPr lang="en-US" sz="1900" dirty="0">
                <a:solidFill>
                  <a:srgbClr val="CFCBBF"/>
                </a:solidFill>
                <a:latin typeface="Prata" pitchFamily="34" charset="0"/>
                <a:ea typeface="Prata" pitchFamily="34" charset="-122"/>
                <a:cs typeface="Prata" pitchFamily="34" charset="-120"/>
              </a:rPr>
              <a:t>Occupied</a:t>
            </a:r>
            <a:endParaRPr lang="en-US" sz="1900" dirty="0"/>
          </a:p>
        </p:txBody>
      </p:sp>
      <p:sp>
        <p:nvSpPr>
          <p:cNvPr id="20" name="Text 16"/>
          <p:cNvSpPr/>
          <p:nvPr/>
        </p:nvSpPr>
        <p:spPr>
          <a:xfrm>
            <a:off x="5982887" y="6055051"/>
            <a:ext cx="4891911" cy="181435"/>
          </a:xfrm>
          <a:prstGeom prst="rect">
            <a:avLst/>
          </a:prstGeom>
          <a:noFill/>
          <a:ln/>
        </p:spPr>
        <p:txBody>
          <a:bodyPr wrap="none" lIns="0" tIns="0" rIns="0" bIns="0" rtlCol="0" anchor="t"/>
          <a:lstStyle/>
          <a:p>
            <a:pPr algn="l" indent="0" marL="0">
              <a:lnSpc>
                <a:spcPct val="78000"/>
              </a:lnSpc>
              <a:buNone/>
            </a:pPr>
            <a:r>
              <a:rPr lang="en-US" sz="1500" dirty="0">
                <a:solidFill>
                  <a:srgbClr val="CFCBBF"/>
                </a:solidFill>
                <a:latin typeface="Raleway" pitchFamily="34" charset="0"/>
                <a:ea typeface="Raleway" pitchFamily="34" charset="-122"/>
                <a:cs typeface="Raleway" pitchFamily="34" charset="-120"/>
              </a:rPr>
              <a:t>Guest checked in</a:t>
            </a:r>
            <a:endParaRPr lang="en-US" sz="1500" dirty="0"/>
          </a:p>
        </p:txBody>
      </p:sp>
      <p:sp>
        <p:nvSpPr>
          <p:cNvPr id="21" name="Text 17"/>
          <p:cNvSpPr/>
          <p:nvPr/>
        </p:nvSpPr>
        <p:spPr>
          <a:xfrm>
            <a:off x="5993638" y="6881589"/>
            <a:ext cx="2419077" cy="302392"/>
          </a:xfrm>
          <a:prstGeom prst="rect">
            <a:avLst/>
          </a:prstGeom>
          <a:noFill/>
          <a:ln/>
        </p:spPr>
        <p:txBody>
          <a:bodyPr wrap="none" lIns="0" tIns="0" rIns="0" bIns="0" rtlCol="0" anchor="t"/>
          <a:lstStyle/>
          <a:p>
            <a:pPr algn="l" indent="0" marL="0">
              <a:lnSpc>
                <a:spcPct val="104000"/>
              </a:lnSpc>
              <a:buNone/>
            </a:pPr>
            <a:r>
              <a:rPr lang="en-US" sz="1900" dirty="0">
                <a:solidFill>
                  <a:srgbClr val="CFCBBF"/>
                </a:solidFill>
                <a:latin typeface="Prata" pitchFamily="34" charset="0"/>
                <a:ea typeface="Prata" pitchFamily="34" charset="-122"/>
                <a:cs typeface="Prata" pitchFamily="34" charset="-120"/>
              </a:rPr>
              <a:t>Available</a:t>
            </a:r>
            <a:endParaRPr lang="en-US" sz="1900" dirty="0"/>
          </a:p>
        </p:txBody>
      </p:sp>
      <p:sp>
        <p:nvSpPr>
          <p:cNvPr id="22" name="Text 18"/>
          <p:cNvSpPr/>
          <p:nvPr/>
        </p:nvSpPr>
        <p:spPr>
          <a:xfrm>
            <a:off x="5993638" y="7269996"/>
            <a:ext cx="4891911" cy="181435"/>
          </a:xfrm>
          <a:prstGeom prst="rect">
            <a:avLst/>
          </a:prstGeom>
          <a:noFill/>
          <a:ln/>
        </p:spPr>
        <p:txBody>
          <a:bodyPr wrap="none" lIns="0" tIns="0" rIns="0" bIns="0" rtlCol="0" anchor="t"/>
          <a:lstStyle/>
          <a:p>
            <a:pPr algn="l" indent="0" marL="0">
              <a:lnSpc>
                <a:spcPct val="78000"/>
              </a:lnSpc>
              <a:buNone/>
            </a:pPr>
            <a:r>
              <a:rPr lang="en-US" sz="1500" dirty="0">
                <a:solidFill>
                  <a:srgbClr val="CFCBBF"/>
                </a:solidFill>
                <a:latin typeface="Raleway" pitchFamily="34" charset="0"/>
                <a:ea typeface="Raleway" pitchFamily="34" charset="-122"/>
                <a:cs typeface="Raleway" pitchFamily="34" charset="-120"/>
              </a:rPr>
              <a:t>Ready for guest use</a:t>
            </a:r>
            <a:endParaRPr lang="en-US" sz="1500" dirty="0"/>
          </a:p>
        </p:txBody>
      </p:sp>
      <p:sp>
        <p:nvSpPr>
          <p:cNvPr id="23" name="Text 19"/>
          <p:cNvSpPr/>
          <p:nvPr/>
        </p:nvSpPr>
        <p:spPr>
          <a:xfrm>
            <a:off x="720012" y="8058547"/>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Room Status Update Rules</a:t>
            </a:r>
            <a:endParaRPr lang="en-US" sz="1000" dirty="0"/>
          </a:p>
        </p:txBody>
      </p:sp>
      <p:sp>
        <p:nvSpPr>
          <p:cNvPr id="24" name="Text 20"/>
          <p:cNvSpPr/>
          <p:nvPr/>
        </p:nvSpPr>
        <p:spPr>
          <a:xfrm>
            <a:off x="720012" y="8270677"/>
            <a:ext cx="5250426" cy="547588"/>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Only authorized roles may trigger specific transitions</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Receptionists trigger: Available → Occupied, Occupied → Cleaning</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Housekeeping triggers: Cleaning → Available</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Maintenance triggers: Any → Maintenance, Maintenance → Available</a:t>
            </a:r>
            <a:endParaRPr lang="en-US" sz="800" dirty="0"/>
          </a:p>
        </p:txBody>
      </p:sp>
      <p:sp>
        <p:nvSpPr>
          <p:cNvPr id="25" name="Text 21"/>
          <p:cNvSpPr/>
          <p:nvPr/>
        </p:nvSpPr>
        <p:spPr>
          <a:xfrm>
            <a:off x="6227607" y="8058547"/>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Real-Time Coordination</a:t>
            </a:r>
            <a:endParaRPr lang="en-US" sz="1000" dirty="0"/>
          </a:p>
        </p:txBody>
      </p:sp>
      <p:sp>
        <p:nvSpPr>
          <p:cNvPr id="26" name="Text 22"/>
          <p:cNvSpPr/>
          <p:nvPr/>
        </p:nvSpPr>
        <p:spPr>
          <a:xfrm>
            <a:off x="6227607" y="8270677"/>
            <a:ext cx="5250426"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Status changes propagate instantly across all connected staff dashboards via WebSocket events, eliminating the need for manual refresh cycles and ensuring that no two staff members act on stale room data simultaneously.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20012" y="583902"/>
            <a:ext cx="1486756" cy="190500"/>
          </a:xfrm>
          <a:prstGeom prst="roundRect">
            <a:avLst>
              <a:gd name="adj" fmla="val 7897"/>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95218" y="629047"/>
            <a:ext cx="100208" cy="100211"/>
          </a:xfrm>
          <a:prstGeom prst="rect">
            <a:avLst/>
          </a:prstGeom>
        </p:spPr>
      </p:pic>
      <p:sp>
        <p:nvSpPr>
          <p:cNvPr id="4" name="Text 1"/>
          <p:cNvSpPr/>
          <p:nvPr/>
        </p:nvSpPr>
        <p:spPr>
          <a:xfrm>
            <a:off x="945531" y="621506"/>
            <a:ext cx="1795616" cy="115292"/>
          </a:xfrm>
          <a:prstGeom prst="rect">
            <a:avLst/>
          </a:prstGeom>
          <a:noFill/>
          <a:ln/>
        </p:spPr>
        <p:txBody>
          <a:bodyPr wrap="none" lIns="0" tIns="0" rIns="0" bIns="0" rtlCol="0" anchor="t"/>
          <a:lstStyle/>
          <a:p>
            <a:pPr algn="l" indent="0" marL="0">
              <a:lnSpc>
                <a:spcPct val="96000"/>
              </a:lnSpc>
              <a:buNone/>
            </a:pPr>
            <a:r>
              <a:rPr lang="en-US" sz="750" dirty="0">
                <a:solidFill>
                  <a:srgbClr val="CFCBBF"/>
                </a:solidFill>
                <a:latin typeface="Raleway" pitchFamily="34" charset="0"/>
                <a:ea typeface="Raleway" pitchFamily="34" charset="-122"/>
                <a:cs typeface="Raleway" pitchFamily="34" charset="-120"/>
              </a:rPr>
              <a:t>CHAPTER 2 · SECTION 2.3</a:t>
            </a:r>
            <a:endParaRPr lang="en-US" sz="750" dirty="0"/>
          </a:p>
        </p:txBody>
      </p:sp>
      <p:sp>
        <p:nvSpPr>
          <p:cNvPr id="5" name="Text 2"/>
          <p:cNvSpPr/>
          <p:nvPr/>
        </p:nvSpPr>
        <p:spPr>
          <a:xfrm>
            <a:off x="720012" y="804962"/>
            <a:ext cx="10751670" cy="391716"/>
          </a:xfrm>
          <a:prstGeom prst="rect">
            <a:avLst/>
          </a:prstGeom>
          <a:noFill/>
          <a:ln/>
        </p:spPr>
        <p:txBody>
          <a:bodyPr wrap="none" lIns="0" tIns="0" rIns="0" bIns="0" rtlCol="0" anchor="t"/>
          <a:lstStyle/>
          <a:p>
            <a:pPr algn="l" indent="0" marL="0">
              <a:lnSpc>
                <a:spcPct val="104000"/>
              </a:lnSpc>
              <a:buNone/>
            </a:pPr>
            <a:r>
              <a:rPr lang="en-US" sz="2450" dirty="0">
                <a:solidFill>
                  <a:srgbClr val="F2E782"/>
                </a:solidFill>
                <a:latin typeface="Prata" pitchFamily="34" charset="0"/>
                <a:ea typeface="Prata" pitchFamily="34" charset="-122"/>
                <a:cs typeface="Prata" pitchFamily="34" charset="-120"/>
              </a:rPr>
              <a:t>Functional Requirements — Reservations &amp; Check-In/Out</a:t>
            </a:r>
            <a:endParaRPr lang="en-US" sz="2450" dirty="0"/>
          </a:p>
        </p:txBody>
      </p:sp>
      <p:sp>
        <p:nvSpPr>
          <p:cNvPr id="6" name="Text 3"/>
          <p:cNvSpPr/>
          <p:nvPr/>
        </p:nvSpPr>
        <p:spPr>
          <a:xfrm>
            <a:off x="720012" y="1311275"/>
            <a:ext cx="10751670" cy="322858"/>
          </a:xfrm>
          <a:prstGeom prst="rect">
            <a:avLst/>
          </a:prstGeom>
          <a:noFill/>
          <a:ln/>
        </p:spPr>
        <p:txBody>
          <a:bodyPr wrap="square" lIns="0" tIns="0" rIns="0" bIns="0" rtlCol="0" anchor="t">
            <a:normAutofit/>
          </a:bodyPr>
          <a:lstStyle/>
          <a:p>
            <a:pPr algn="l" indent="0" marL="0">
              <a:lnSpc>
                <a:spcPct val="107000"/>
              </a:lnSpc>
              <a:buNone/>
            </a:pPr>
            <a:r>
              <a:rPr lang="en-US" sz="950" dirty="0">
                <a:solidFill>
                  <a:srgbClr val="CFCBBF"/>
                </a:solidFill>
                <a:latin typeface="Raleway" pitchFamily="34" charset="0"/>
                <a:ea typeface="Raleway" pitchFamily="34" charset="-122"/>
                <a:cs typeface="Raleway" pitchFamily="34" charset="-120"/>
              </a:rPr>
              <a:t>The reservation and guest-flow module orchestrates the complete guest lifecycle — from initial booking inquiry through room assignment, key issuance, and final departure — with automated billing triggers at every stage.</a:t>
            </a:r>
            <a:endParaRPr lang="en-US" sz="950" dirty="0"/>
          </a:p>
        </p:txBody>
      </p:sp>
      <p:pic>
        <p:nvPicPr>
          <p:cNvPr id="7" name="Image 1" descr="preencoded.png">    </p:cNvPr>
          <p:cNvPicPr>
            <a:picLocks noChangeAspect="1"/>
          </p:cNvPicPr>
          <p:nvPr/>
        </p:nvPicPr>
        <p:blipFill>
          <a:blip r:embed="rId2"/>
          <a:stretch>
            <a:fillRect/>
          </a:stretch>
        </p:blipFill>
        <p:spPr>
          <a:xfrm>
            <a:off x="720012" y="1720056"/>
            <a:ext cx="5375835" cy="501452"/>
          </a:xfrm>
          <a:prstGeom prst="rect">
            <a:avLst/>
          </a:prstGeom>
        </p:spPr>
      </p:pic>
      <p:sp>
        <p:nvSpPr>
          <p:cNvPr id="8" name="Text 4"/>
          <p:cNvSpPr/>
          <p:nvPr/>
        </p:nvSpPr>
        <p:spPr>
          <a:xfrm>
            <a:off x="845323" y="2297906"/>
            <a:ext cx="5125215" cy="195957"/>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Reservation</a:t>
            </a:r>
            <a:endParaRPr lang="en-US" sz="1200" dirty="0"/>
          </a:p>
        </p:txBody>
      </p:sp>
      <p:sp>
        <p:nvSpPr>
          <p:cNvPr id="9" name="Text 5"/>
          <p:cNvSpPr/>
          <p:nvPr/>
        </p:nvSpPr>
        <p:spPr>
          <a:xfrm>
            <a:off x="845323" y="2539702"/>
            <a:ext cx="5125215" cy="322858"/>
          </a:xfrm>
          <a:prstGeom prst="rect">
            <a:avLst/>
          </a:prstGeom>
          <a:noFill/>
          <a:ln/>
        </p:spPr>
        <p:txBody>
          <a:bodyPr wrap="square" lIns="0" tIns="0" rIns="0" bIns="0" rtlCol="0" anchor="t">
            <a:normAutofit/>
          </a:bodyPr>
          <a:lstStyle/>
          <a:p>
            <a:pPr algn="l" indent="0" marL="0">
              <a:lnSpc>
                <a:spcPct val="107000"/>
              </a:lnSpc>
              <a:buNone/>
            </a:pPr>
            <a:r>
              <a:rPr lang="en-US" sz="950" dirty="0">
                <a:solidFill>
                  <a:srgbClr val="CFCBBF"/>
                </a:solidFill>
                <a:latin typeface="Raleway" pitchFamily="34" charset="0"/>
                <a:ea typeface="Raleway" pitchFamily="34" charset="-122"/>
                <a:cs typeface="Raleway" pitchFamily="34" charset="-120"/>
              </a:rPr>
              <a:t>Online or staff-initiated booking with confirmation number, hold period, and deposit capture</a:t>
            </a:r>
            <a:endParaRPr lang="en-US" sz="950" dirty="0"/>
          </a:p>
        </p:txBody>
      </p:sp>
      <p:pic>
        <p:nvPicPr>
          <p:cNvPr id="10" name="Image 2" descr="preencoded.png">    </p:cNvPr>
          <p:cNvPicPr>
            <a:picLocks noChangeAspect="1"/>
          </p:cNvPicPr>
          <p:nvPr/>
        </p:nvPicPr>
        <p:blipFill>
          <a:blip r:embed="rId3"/>
          <a:stretch>
            <a:fillRect/>
          </a:stretch>
        </p:blipFill>
        <p:spPr>
          <a:xfrm>
            <a:off x="6095848" y="1720056"/>
            <a:ext cx="5375835" cy="501452"/>
          </a:xfrm>
          <a:prstGeom prst="rect">
            <a:avLst/>
          </a:prstGeom>
        </p:spPr>
      </p:pic>
      <p:sp>
        <p:nvSpPr>
          <p:cNvPr id="11" name="Text 6"/>
          <p:cNvSpPr/>
          <p:nvPr/>
        </p:nvSpPr>
        <p:spPr>
          <a:xfrm>
            <a:off x="6221158" y="2297906"/>
            <a:ext cx="5125215" cy="195957"/>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Pre-Arrival</a:t>
            </a:r>
            <a:endParaRPr lang="en-US" sz="1200" dirty="0"/>
          </a:p>
        </p:txBody>
      </p:sp>
      <p:sp>
        <p:nvSpPr>
          <p:cNvPr id="12" name="Text 7"/>
          <p:cNvSpPr/>
          <p:nvPr/>
        </p:nvSpPr>
        <p:spPr>
          <a:xfrm>
            <a:off x="6221158" y="2539702"/>
            <a:ext cx="5125215" cy="161429"/>
          </a:xfrm>
          <a:prstGeom prst="rect">
            <a:avLst/>
          </a:prstGeom>
          <a:noFill/>
          <a:ln/>
        </p:spPr>
        <p:txBody>
          <a:bodyPr wrap="none" lIns="0" tIns="0" rIns="0" bIns="0" rtlCol="0" anchor="t"/>
          <a:lstStyle/>
          <a:p>
            <a:pPr algn="l" indent="0" marL="0">
              <a:lnSpc>
                <a:spcPct val="107000"/>
              </a:lnSpc>
              <a:buNone/>
            </a:pPr>
            <a:r>
              <a:rPr lang="en-US" sz="950" dirty="0">
                <a:solidFill>
                  <a:srgbClr val="CFCBBF"/>
                </a:solidFill>
                <a:latin typeface="Raleway" pitchFamily="34" charset="0"/>
                <a:ea typeface="Raleway" pitchFamily="34" charset="-122"/>
                <a:cs typeface="Raleway" pitchFamily="34" charset="-120"/>
              </a:rPr>
              <a:t>Guest profile verification, room pre-assignment, special request fulfillment, billing setup</a:t>
            </a:r>
            <a:endParaRPr lang="en-US" sz="950" dirty="0"/>
          </a:p>
        </p:txBody>
      </p:sp>
      <p:pic>
        <p:nvPicPr>
          <p:cNvPr id="13" name="Image 3" descr="preencoded.png">    </p:cNvPr>
          <p:cNvPicPr>
            <a:picLocks noChangeAspect="1"/>
          </p:cNvPicPr>
          <p:nvPr/>
        </p:nvPicPr>
        <p:blipFill>
          <a:blip r:embed="rId4"/>
          <a:stretch>
            <a:fillRect/>
          </a:stretch>
        </p:blipFill>
        <p:spPr>
          <a:xfrm>
            <a:off x="720012" y="2987873"/>
            <a:ext cx="5375835" cy="501452"/>
          </a:xfrm>
          <a:prstGeom prst="rect">
            <a:avLst/>
          </a:prstGeom>
        </p:spPr>
      </p:pic>
      <p:sp>
        <p:nvSpPr>
          <p:cNvPr id="14" name="Text 8"/>
          <p:cNvSpPr/>
          <p:nvPr/>
        </p:nvSpPr>
        <p:spPr>
          <a:xfrm>
            <a:off x="845323" y="3565723"/>
            <a:ext cx="5125215" cy="195957"/>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Check-In</a:t>
            </a:r>
            <a:endParaRPr lang="en-US" sz="1200" dirty="0"/>
          </a:p>
        </p:txBody>
      </p:sp>
      <p:sp>
        <p:nvSpPr>
          <p:cNvPr id="15" name="Text 9"/>
          <p:cNvSpPr/>
          <p:nvPr/>
        </p:nvSpPr>
        <p:spPr>
          <a:xfrm>
            <a:off x="845323" y="3807520"/>
            <a:ext cx="5125215" cy="161429"/>
          </a:xfrm>
          <a:prstGeom prst="rect">
            <a:avLst/>
          </a:prstGeom>
          <a:noFill/>
          <a:ln/>
        </p:spPr>
        <p:txBody>
          <a:bodyPr wrap="none" lIns="0" tIns="0" rIns="0" bIns="0" rtlCol="0" anchor="t"/>
          <a:lstStyle/>
          <a:p>
            <a:pPr algn="l" indent="0" marL="0">
              <a:lnSpc>
                <a:spcPct val="107000"/>
              </a:lnSpc>
              <a:buNone/>
            </a:pPr>
            <a:r>
              <a:rPr lang="en-US" sz="950" dirty="0">
                <a:solidFill>
                  <a:srgbClr val="CFCBBF"/>
                </a:solidFill>
                <a:latin typeface="Raleway" pitchFamily="34" charset="0"/>
                <a:ea typeface="Raleway" pitchFamily="34" charset="-122"/>
                <a:cs typeface="Raleway" pitchFamily="34" charset="-120"/>
              </a:rPr>
              <a:t>Identity verification, automated room allocation, key issuance, billing account activation</a:t>
            </a:r>
            <a:endParaRPr lang="en-US" sz="950" dirty="0"/>
          </a:p>
        </p:txBody>
      </p:sp>
      <p:pic>
        <p:nvPicPr>
          <p:cNvPr id="16" name="Image 4" descr="preencoded.png">    </p:cNvPr>
          <p:cNvPicPr>
            <a:picLocks noChangeAspect="1"/>
          </p:cNvPicPr>
          <p:nvPr/>
        </p:nvPicPr>
        <p:blipFill>
          <a:blip r:embed="rId5"/>
          <a:stretch>
            <a:fillRect/>
          </a:stretch>
        </p:blipFill>
        <p:spPr>
          <a:xfrm>
            <a:off x="6095848" y="2987873"/>
            <a:ext cx="5375835" cy="501452"/>
          </a:xfrm>
          <a:prstGeom prst="rect">
            <a:avLst/>
          </a:prstGeom>
        </p:spPr>
      </p:pic>
      <p:sp>
        <p:nvSpPr>
          <p:cNvPr id="17" name="Text 10"/>
          <p:cNvSpPr/>
          <p:nvPr/>
        </p:nvSpPr>
        <p:spPr>
          <a:xfrm>
            <a:off x="6221158" y="3565723"/>
            <a:ext cx="5125215" cy="195957"/>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Check-Out</a:t>
            </a:r>
            <a:endParaRPr lang="en-US" sz="1200" dirty="0"/>
          </a:p>
        </p:txBody>
      </p:sp>
      <p:sp>
        <p:nvSpPr>
          <p:cNvPr id="18" name="Text 11"/>
          <p:cNvSpPr/>
          <p:nvPr/>
        </p:nvSpPr>
        <p:spPr>
          <a:xfrm>
            <a:off x="6221158" y="3807520"/>
            <a:ext cx="5125215" cy="161429"/>
          </a:xfrm>
          <a:prstGeom prst="rect">
            <a:avLst/>
          </a:prstGeom>
          <a:noFill/>
          <a:ln/>
        </p:spPr>
        <p:txBody>
          <a:bodyPr wrap="none" lIns="0" tIns="0" rIns="0" bIns="0" rtlCol="0" anchor="t"/>
          <a:lstStyle/>
          <a:p>
            <a:pPr algn="l" indent="0" marL="0">
              <a:lnSpc>
                <a:spcPct val="107000"/>
              </a:lnSpc>
              <a:buNone/>
            </a:pPr>
            <a:r>
              <a:rPr lang="en-US" sz="950" dirty="0">
                <a:solidFill>
                  <a:srgbClr val="CFCBBF"/>
                </a:solidFill>
                <a:latin typeface="Raleway" pitchFamily="34" charset="0"/>
                <a:ea typeface="Raleway" pitchFamily="34" charset="-122"/>
                <a:cs typeface="Raleway" pitchFamily="34" charset="-120"/>
              </a:rPr>
              <a:t>Final bill reconciliation, payment capture, room status update, guest feedback collection</a:t>
            </a:r>
            <a:endParaRPr lang="en-US" sz="950" dirty="0"/>
          </a:p>
        </p:txBody>
      </p:sp>
      <p:sp>
        <p:nvSpPr>
          <p:cNvPr id="19" name="Text 12"/>
          <p:cNvSpPr/>
          <p:nvPr/>
        </p:nvSpPr>
        <p:spPr>
          <a:xfrm>
            <a:off x="720012" y="4256584"/>
            <a:ext cx="5222943" cy="195957"/>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Reservation System Requirements</a:t>
            </a:r>
            <a:endParaRPr lang="en-US" sz="1200" dirty="0"/>
          </a:p>
        </p:txBody>
      </p:sp>
      <p:sp>
        <p:nvSpPr>
          <p:cNvPr id="20" name="Text 13"/>
          <p:cNvSpPr/>
          <p:nvPr/>
        </p:nvSpPr>
        <p:spPr>
          <a:xfrm>
            <a:off x="720012" y="4528939"/>
            <a:ext cx="5222943" cy="1102023"/>
          </a:xfrm>
          <a:prstGeom prst="rect">
            <a:avLst/>
          </a:prstGeom>
          <a:noFill/>
          <a:ln/>
        </p:spPr>
        <p:txBody>
          <a:bodyPr wrap="square" lIns="0" tIns="50148" rIns="0" bIns="0" rtlCol="0" anchor="t">
            <a:normAutofit/>
          </a:bodyPr>
          <a:lstStyle/>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Support both online self-service and staff-assisted booking channels</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Generate unique confirmation numbers with check digit validation</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Automated email confirmation with booking summary and hotel policies</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Cancellation and modification workflows with configurable penalty rules</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Waiting list management for sold-out dates</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Group booking capability (minimum 5 rooms) with single invoice option</a:t>
            </a:r>
            <a:endParaRPr lang="en-US" sz="950" dirty="0"/>
          </a:p>
        </p:txBody>
      </p:sp>
      <p:sp>
        <p:nvSpPr>
          <p:cNvPr id="21" name="Text 14"/>
          <p:cNvSpPr/>
          <p:nvPr/>
        </p:nvSpPr>
        <p:spPr>
          <a:xfrm>
            <a:off x="6255090" y="4256584"/>
            <a:ext cx="5222943" cy="195957"/>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Check-In Process Requirements</a:t>
            </a:r>
            <a:endParaRPr lang="en-US" sz="1200" dirty="0"/>
          </a:p>
        </p:txBody>
      </p:sp>
      <p:sp>
        <p:nvSpPr>
          <p:cNvPr id="22" name="Text 15"/>
          <p:cNvSpPr/>
          <p:nvPr/>
        </p:nvSpPr>
        <p:spPr>
          <a:xfrm>
            <a:off x="6255090" y="4528939"/>
            <a:ext cx="5222943" cy="913904"/>
          </a:xfrm>
          <a:prstGeom prst="rect">
            <a:avLst/>
          </a:prstGeom>
          <a:noFill/>
          <a:ln/>
        </p:spPr>
        <p:txBody>
          <a:bodyPr wrap="square" lIns="0" tIns="50148" rIns="0" bIns="0" rtlCol="0" anchor="t">
            <a:normAutofit/>
          </a:bodyPr>
          <a:lstStyle/>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Government ID verification prompt with scan/upload capability</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Automated room allocation respecting pre-assignment and preferences</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Digital key generation or physical key tracking log</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Credit card pre-authorization for incidentals (configurable hold amount)</a:t>
            </a:r>
            <a:endParaRPr lang="en-US" sz="950" dirty="0"/>
          </a:p>
          <a:p>
            <a:pPr algn="l" marL="193040" indent="-193040">
              <a:lnSpc>
                <a:spcPct val="107000"/>
              </a:lnSpc>
              <a:buSzPct val="100000"/>
              <a:buChar char="•"/>
            </a:pPr>
            <a:r>
              <a:rPr lang="en-US" sz="950" dirty="0">
                <a:solidFill>
                  <a:srgbClr val="CFCBBF"/>
                </a:solidFill>
                <a:latin typeface="Raleway" pitchFamily="34" charset="0"/>
                <a:ea typeface="Raleway" pitchFamily="34" charset="-122"/>
                <a:cs typeface="Raleway" pitchFamily="34" charset="-120"/>
              </a:rPr>
              <a:t>Early check-in fee calculation if before standard arrival time (15:00)</a:t>
            </a:r>
            <a:endParaRPr lang="en-US" sz="950" dirty="0"/>
          </a:p>
        </p:txBody>
      </p:sp>
      <p:sp>
        <p:nvSpPr>
          <p:cNvPr id="23" name="Shape 16"/>
          <p:cNvSpPr/>
          <p:nvPr/>
        </p:nvSpPr>
        <p:spPr>
          <a:xfrm>
            <a:off x="720012" y="5743575"/>
            <a:ext cx="10751670" cy="530523"/>
          </a:xfrm>
          <a:prstGeom prst="roundRect">
            <a:avLst>
              <a:gd name="adj" fmla="val 3545"/>
            </a:avLst>
          </a:prstGeom>
          <a:solidFill>
            <a:srgbClr val="71660F"/>
          </a:solidFill>
          <a:ln/>
        </p:spPr>
      </p:sp>
      <p:pic>
        <p:nvPicPr>
          <p:cNvPr id="24" name="Image 5" descr="preencoded.png">    </p:cNvPr>
          <p:cNvPicPr>
            <a:picLocks noChangeAspect="1"/>
          </p:cNvPicPr>
          <p:nvPr/>
        </p:nvPicPr>
        <p:blipFill>
          <a:blip r:embed="rId6"/>
          <a:stretch>
            <a:fillRect/>
          </a:stretch>
        </p:blipFill>
        <p:spPr>
          <a:xfrm>
            <a:off x="845323" y="5855791"/>
            <a:ext cx="156662" cy="125313"/>
          </a:xfrm>
          <a:prstGeom prst="rect">
            <a:avLst/>
          </a:prstGeom>
        </p:spPr>
      </p:pic>
      <p:sp>
        <p:nvSpPr>
          <p:cNvPr id="25" name="Text 17"/>
          <p:cNvSpPr/>
          <p:nvPr/>
        </p:nvSpPr>
        <p:spPr>
          <a:xfrm>
            <a:off x="1127295" y="5851227"/>
            <a:ext cx="10219077" cy="322858"/>
          </a:xfrm>
          <a:prstGeom prst="rect">
            <a:avLst/>
          </a:prstGeom>
          <a:noFill/>
          <a:ln/>
        </p:spPr>
        <p:txBody>
          <a:bodyPr wrap="square" lIns="0" tIns="0" rIns="0" bIns="0" rtlCol="0" anchor="t">
            <a:normAutofit/>
          </a:bodyPr>
          <a:lstStyle/>
          <a:p>
            <a:pPr algn="l" indent="0" marL="0">
              <a:lnSpc>
                <a:spcPct val="107000"/>
              </a:lnSpc>
              <a:buNone/>
            </a:pPr>
            <a:r>
              <a:rPr lang="en-US" sz="950" dirty="0">
                <a:solidFill>
                  <a:srgbClr val="FFFFFF"/>
                </a:solidFill>
                <a:latin typeface="Raleway" pitchFamily="34" charset="0"/>
                <a:ea typeface="Raleway" pitchFamily="34" charset="-122"/>
                <a:cs typeface="Raleway" pitchFamily="34" charset="-120"/>
              </a:rPr>
              <a:t>Check-out must trigger three concurrent operations: (1) final bill generation, (2) room status set to Cleaning, and (3) guest feedback survey dispatch — all within a single atomic transaction to prevent data inconsistency.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20012" y="646509"/>
            <a:ext cx="1449550" cy="185539"/>
          </a:xfrm>
          <a:prstGeom prst="roundRect">
            <a:avLst>
              <a:gd name="adj" fmla="val 7901"/>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93234" y="690463"/>
            <a:ext cx="97629" cy="97631"/>
          </a:xfrm>
          <a:prstGeom prst="rect">
            <a:avLst/>
          </a:prstGeom>
        </p:spPr>
      </p:pic>
      <p:sp>
        <p:nvSpPr>
          <p:cNvPr id="4" name="Text 1"/>
          <p:cNvSpPr/>
          <p:nvPr/>
        </p:nvSpPr>
        <p:spPr>
          <a:xfrm>
            <a:off x="939677" y="683121"/>
            <a:ext cx="1766248" cy="112316"/>
          </a:xfrm>
          <a:prstGeom prst="rect">
            <a:avLst/>
          </a:prstGeom>
          <a:noFill/>
          <a:ln/>
        </p:spPr>
        <p:txBody>
          <a:bodyPr wrap="none" lIns="0" tIns="0" rIns="0" bIns="0" rtlCol="0" anchor="t"/>
          <a:lstStyle/>
          <a:p>
            <a:pPr algn="l" indent="0" marL="0">
              <a:lnSpc>
                <a:spcPct val="96000"/>
              </a:lnSpc>
              <a:buNone/>
            </a:pPr>
            <a:r>
              <a:rPr lang="en-US" sz="750" dirty="0">
                <a:solidFill>
                  <a:srgbClr val="CFCBBF"/>
                </a:solidFill>
                <a:latin typeface="Raleway" pitchFamily="34" charset="0"/>
                <a:ea typeface="Raleway" pitchFamily="34" charset="-122"/>
                <a:cs typeface="Raleway" pitchFamily="34" charset="-120"/>
              </a:rPr>
              <a:t>CHAPTER 2 · SECTION 2.4</a:t>
            </a:r>
            <a:endParaRPr lang="en-US" sz="750" dirty="0"/>
          </a:p>
        </p:txBody>
      </p:sp>
      <p:sp>
        <p:nvSpPr>
          <p:cNvPr id="5" name="Text 2"/>
          <p:cNvSpPr/>
          <p:nvPr/>
        </p:nvSpPr>
        <p:spPr>
          <a:xfrm>
            <a:off x="720012" y="861020"/>
            <a:ext cx="10751670" cy="381695"/>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Functional Requirements — Billing &amp; Invoicing</a:t>
            </a:r>
            <a:endParaRPr lang="en-US" sz="2400" dirty="0"/>
          </a:p>
        </p:txBody>
      </p:sp>
      <p:sp>
        <p:nvSpPr>
          <p:cNvPr id="6" name="Text 3"/>
          <p:cNvSpPr/>
          <p:nvPr/>
        </p:nvSpPr>
        <p:spPr>
          <a:xfrm>
            <a:off x="720012" y="1351459"/>
            <a:ext cx="10751670"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The billing module manages the complete financial lifecycle of every guest stay, from initial deposit to final invoice settlement. It must handle multi-currency pricing, itemized service charges, and integration with external payment gateways without storing raw card data.</a:t>
            </a:r>
            <a:endParaRPr lang="en-US" sz="950" dirty="0"/>
          </a:p>
        </p:txBody>
      </p:sp>
      <p:sp>
        <p:nvSpPr>
          <p:cNvPr id="7" name="Shape 4"/>
          <p:cNvSpPr/>
          <p:nvPr/>
        </p:nvSpPr>
        <p:spPr>
          <a:xfrm>
            <a:off x="632008" y="1744365"/>
            <a:ext cx="5402822" cy="1591965"/>
          </a:xfrm>
          <a:prstGeom prst="roundRect">
            <a:avLst>
              <a:gd name="adj" fmla="val 1151"/>
            </a:avLst>
          </a:prstGeom>
          <a:solidFill>
            <a:srgbClr val="FCEC99"/>
          </a:solidFill>
          <a:ln/>
        </p:spPr>
      </p:sp>
      <p:sp>
        <p:nvSpPr>
          <p:cNvPr id="8" name="Text 5"/>
          <p:cNvSpPr/>
          <p:nvPr/>
        </p:nvSpPr>
        <p:spPr>
          <a:xfrm>
            <a:off x="754143" y="1816894"/>
            <a:ext cx="5158551" cy="19079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rata" pitchFamily="34" charset="0"/>
                <a:ea typeface="Prata" pitchFamily="34" charset="-122"/>
                <a:cs typeface="Prata" pitchFamily="34" charset="-120"/>
              </a:rPr>
              <a:t>Billing Calculation Engine</a:t>
            </a:r>
            <a:endParaRPr lang="en-US" sz="1200" dirty="0"/>
          </a:p>
        </p:txBody>
      </p:sp>
      <p:sp>
        <p:nvSpPr>
          <p:cNvPr id="9" name="Text 6"/>
          <p:cNvSpPr/>
          <p:nvPr/>
        </p:nvSpPr>
        <p:spPr>
          <a:xfrm>
            <a:off x="754143" y="2080220"/>
            <a:ext cx="5158551" cy="467023"/>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000000"/>
                </a:solidFill>
                <a:latin typeface="Raleway" pitchFamily="34" charset="0"/>
                <a:ea typeface="Raleway" pitchFamily="34" charset="-122"/>
                <a:cs typeface="Raleway" pitchFamily="34" charset="-120"/>
              </a:rPr>
              <a:t>The system automatically calculates the total guest bill by aggregating all chargeable items across the stay duration. Each charge is timestamped and linked to the originating department for revenue reporting.</a:t>
            </a:r>
            <a:endParaRPr lang="en-US" sz="950" dirty="0"/>
          </a:p>
        </p:txBody>
      </p:sp>
      <p:sp>
        <p:nvSpPr>
          <p:cNvPr id="10" name="Text 7"/>
          <p:cNvSpPr/>
          <p:nvPr/>
        </p:nvSpPr>
        <p:spPr>
          <a:xfrm>
            <a:off x="754143" y="2612430"/>
            <a:ext cx="5158551"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Room Charges:</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Base rate × nights, with proration for partial days</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Service Charges:</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Room service, minibar, spa, laundry, parking</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Tax Calculation:</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Configurable tax rates by charge category and jurisdiction</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Discount Application:</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Corporate rates, loyalty discounts, manager overrides</a:t>
            </a:r>
            <a:endParaRPr lang="en-US" sz="950" dirty="0"/>
          </a:p>
        </p:txBody>
      </p:sp>
      <p:sp>
        <p:nvSpPr>
          <p:cNvPr id="11" name="Text 8"/>
          <p:cNvSpPr/>
          <p:nvPr/>
        </p:nvSpPr>
        <p:spPr>
          <a:xfrm>
            <a:off x="6251220" y="1816894"/>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Invoice Generation</a:t>
            </a:r>
            <a:endParaRPr lang="en-US" sz="1200" dirty="0"/>
          </a:p>
        </p:txBody>
      </p:sp>
      <p:sp>
        <p:nvSpPr>
          <p:cNvPr id="12" name="Text 9"/>
          <p:cNvSpPr/>
          <p:nvPr/>
        </p:nvSpPr>
        <p:spPr>
          <a:xfrm>
            <a:off x="6251220" y="2080220"/>
            <a:ext cx="5226812" cy="467023"/>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Every invoice is a structured, branded document generated server-side as a PDF and delivered to the guest via email, with a print-ready version available at the front desk. Invoices are immutable once finalized — corrections require a credit memo workflow.</a:t>
            </a:r>
            <a:endParaRPr lang="en-US" sz="950" dirty="0"/>
          </a:p>
        </p:txBody>
      </p:sp>
      <p:sp>
        <p:nvSpPr>
          <p:cNvPr id="13" name="Text 10"/>
          <p:cNvSpPr/>
          <p:nvPr/>
        </p:nvSpPr>
        <p:spPr>
          <a:xfrm>
            <a:off x="6251220" y="2612430"/>
            <a:ext cx="5226812"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Line-item breakdown with date, description, quantity, and unit price</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Subtotal, tax, discount, and grand total sections</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Hotel branding, registration number, and VAT details</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Unique invoice number in sequential format for accounting compliance</a:t>
            </a:r>
            <a:endParaRPr lang="en-US" sz="950" dirty="0"/>
          </a:p>
        </p:txBody>
      </p:sp>
      <p:sp>
        <p:nvSpPr>
          <p:cNvPr id="14" name="Shape 11"/>
          <p:cNvSpPr/>
          <p:nvPr/>
        </p:nvSpPr>
        <p:spPr>
          <a:xfrm>
            <a:off x="720012" y="3417888"/>
            <a:ext cx="5339522" cy="789880"/>
          </a:xfrm>
          <a:prstGeom prst="roundRect">
            <a:avLst>
              <a:gd name="adj" fmla="val 2320"/>
            </a:avLst>
          </a:prstGeom>
          <a:solidFill>
            <a:srgbClr val="3A3B3C"/>
          </a:solidFill>
          <a:ln/>
        </p:spPr>
      </p:sp>
      <p:sp>
        <p:nvSpPr>
          <p:cNvPr id="15" name="Text 12"/>
          <p:cNvSpPr/>
          <p:nvPr/>
        </p:nvSpPr>
        <p:spPr>
          <a:xfrm>
            <a:off x="842148" y="3540026"/>
            <a:ext cx="5095251"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Credit/Debit Card</a:t>
            </a:r>
            <a:endParaRPr lang="en-US" sz="1200" dirty="0"/>
          </a:p>
        </p:txBody>
      </p:sp>
      <p:sp>
        <p:nvSpPr>
          <p:cNvPr id="16" name="Text 13"/>
          <p:cNvSpPr/>
          <p:nvPr/>
        </p:nvSpPr>
        <p:spPr>
          <a:xfrm>
            <a:off x="842148" y="3774281"/>
            <a:ext cx="5095251"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Stripe-integrated card processing with PCI-DSS compliance. Tokenized card storage for repeat guests.</a:t>
            </a:r>
            <a:endParaRPr lang="en-US" sz="950" dirty="0"/>
          </a:p>
        </p:txBody>
      </p:sp>
      <p:sp>
        <p:nvSpPr>
          <p:cNvPr id="17" name="Shape 14"/>
          <p:cNvSpPr/>
          <p:nvPr/>
        </p:nvSpPr>
        <p:spPr>
          <a:xfrm>
            <a:off x="6132061" y="3417888"/>
            <a:ext cx="5339621" cy="789880"/>
          </a:xfrm>
          <a:prstGeom prst="roundRect">
            <a:avLst>
              <a:gd name="adj" fmla="val 2320"/>
            </a:avLst>
          </a:prstGeom>
          <a:solidFill>
            <a:srgbClr val="3A3B3C"/>
          </a:solidFill>
          <a:ln/>
        </p:spPr>
      </p:sp>
      <p:sp>
        <p:nvSpPr>
          <p:cNvPr id="18" name="Text 15"/>
          <p:cNvSpPr/>
          <p:nvPr/>
        </p:nvSpPr>
        <p:spPr>
          <a:xfrm>
            <a:off x="6254197" y="3540026"/>
            <a:ext cx="5095351"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Cash Payments</a:t>
            </a:r>
            <a:endParaRPr lang="en-US" sz="1200" dirty="0"/>
          </a:p>
        </p:txBody>
      </p:sp>
      <p:sp>
        <p:nvSpPr>
          <p:cNvPr id="19" name="Text 16"/>
          <p:cNvSpPr/>
          <p:nvPr/>
        </p:nvSpPr>
        <p:spPr>
          <a:xfrm>
            <a:off x="6254197" y="3774281"/>
            <a:ext cx="5095351"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Manual cash receipt entry with cashier ID, change calculation, and till reconciliation reports.</a:t>
            </a:r>
            <a:endParaRPr lang="en-US" sz="950" dirty="0"/>
          </a:p>
        </p:txBody>
      </p:sp>
      <p:sp>
        <p:nvSpPr>
          <p:cNvPr id="20" name="Shape 17"/>
          <p:cNvSpPr/>
          <p:nvPr/>
        </p:nvSpPr>
        <p:spPr>
          <a:xfrm>
            <a:off x="720012" y="4280297"/>
            <a:ext cx="5339522" cy="789880"/>
          </a:xfrm>
          <a:prstGeom prst="roundRect">
            <a:avLst>
              <a:gd name="adj" fmla="val 2320"/>
            </a:avLst>
          </a:prstGeom>
          <a:solidFill>
            <a:srgbClr val="3A3B3C"/>
          </a:solidFill>
          <a:ln/>
        </p:spPr>
      </p:sp>
      <p:sp>
        <p:nvSpPr>
          <p:cNvPr id="21" name="Text 18"/>
          <p:cNvSpPr/>
          <p:nvPr/>
        </p:nvSpPr>
        <p:spPr>
          <a:xfrm>
            <a:off x="842148" y="4402435"/>
            <a:ext cx="5095251"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Bank Transfer</a:t>
            </a:r>
            <a:endParaRPr lang="en-US" sz="1200" dirty="0"/>
          </a:p>
        </p:txBody>
      </p:sp>
      <p:sp>
        <p:nvSpPr>
          <p:cNvPr id="22" name="Text 19"/>
          <p:cNvSpPr/>
          <p:nvPr/>
        </p:nvSpPr>
        <p:spPr>
          <a:xfrm>
            <a:off x="842148" y="4636691"/>
            <a:ext cx="5095251"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Reference number tracking for wire transfers, with manual reconciliation workflow for finance staff.</a:t>
            </a:r>
            <a:endParaRPr lang="en-US" sz="950" dirty="0"/>
          </a:p>
        </p:txBody>
      </p:sp>
      <p:sp>
        <p:nvSpPr>
          <p:cNvPr id="23" name="Shape 20"/>
          <p:cNvSpPr/>
          <p:nvPr/>
        </p:nvSpPr>
        <p:spPr>
          <a:xfrm>
            <a:off x="6132061" y="4280297"/>
            <a:ext cx="5339621" cy="789880"/>
          </a:xfrm>
          <a:prstGeom prst="roundRect">
            <a:avLst>
              <a:gd name="adj" fmla="val 2320"/>
            </a:avLst>
          </a:prstGeom>
          <a:solidFill>
            <a:srgbClr val="3A3B3C"/>
          </a:solidFill>
          <a:ln/>
        </p:spPr>
      </p:sp>
      <p:sp>
        <p:nvSpPr>
          <p:cNvPr id="24" name="Text 21"/>
          <p:cNvSpPr/>
          <p:nvPr/>
        </p:nvSpPr>
        <p:spPr>
          <a:xfrm>
            <a:off x="6254197" y="4402435"/>
            <a:ext cx="5095351"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Corporate Account</a:t>
            </a:r>
            <a:endParaRPr lang="en-US" sz="1200" dirty="0"/>
          </a:p>
        </p:txBody>
      </p:sp>
      <p:sp>
        <p:nvSpPr>
          <p:cNvPr id="25" name="Text 22"/>
          <p:cNvSpPr/>
          <p:nvPr/>
        </p:nvSpPr>
        <p:spPr>
          <a:xfrm>
            <a:off x="6254197" y="4636691"/>
            <a:ext cx="5095351"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Consolidated monthly billing for corporate clients with purchase order reference and credit limit enforcement.</a:t>
            </a:r>
            <a:endParaRPr lang="en-US" sz="950" dirty="0"/>
          </a:p>
        </p:txBody>
      </p:sp>
      <p:sp>
        <p:nvSpPr>
          <p:cNvPr id="26" name="Text 23"/>
          <p:cNvSpPr/>
          <p:nvPr/>
        </p:nvSpPr>
        <p:spPr>
          <a:xfrm>
            <a:off x="720012" y="5224264"/>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Payment Security Requirements</a:t>
            </a:r>
            <a:endParaRPr lang="en-US" sz="1200" dirty="0"/>
          </a:p>
        </p:txBody>
      </p:sp>
      <p:sp>
        <p:nvSpPr>
          <p:cNvPr id="27" name="Text 24"/>
          <p:cNvSpPr/>
          <p:nvPr/>
        </p:nvSpPr>
        <p:spPr>
          <a:xfrm>
            <a:off x="720012" y="5487591"/>
            <a:ext cx="5226812"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PCI-DSS Level 1 compliance via payment gateway tokenization</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Zero raw card data stored on HMS servers at any time</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HTTPS-only payment form submission with CSRF token validation</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Refund workflow requires dual authorization (cashier + manager)</a:t>
            </a:r>
            <a:endParaRPr lang="en-US" sz="950" dirty="0"/>
          </a:p>
        </p:txBody>
      </p:sp>
      <p:sp>
        <p:nvSpPr>
          <p:cNvPr id="28" name="Text 25"/>
          <p:cNvSpPr/>
          <p:nvPr/>
        </p:nvSpPr>
        <p:spPr>
          <a:xfrm>
            <a:off x="6251220" y="5224264"/>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Financial Reporting Outputs</a:t>
            </a:r>
            <a:endParaRPr lang="en-US" sz="1200" dirty="0"/>
          </a:p>
        </p:txBody>
      </p:sp>
      <p:sp>
        <p:nvSpPr>
          <p:cNvPr id="29" name="Text 26"/>
          <p:cNvSpPr/>
          <p:nvPr/>
        </p:nvSpPr>
        <p:spPr>
          <a:xfrm>
            <a:off x="6251220" y="5487591"/>
            <a:ext cx="5226812"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Daily revenue summary by room type and department</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Outstanding balance aging report for accounts receivable</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Tax liability report exportable in CSV and PDF formats</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Occupancy-to-revenue correlation dashboard for management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20012" y="565745"/>
            <a:ext cx="1221154" cy="156270"/>
          </a:xfrm>
          <a:prstGeom prst="roundRect">
            <a:avLst>
              <a:gd name="adj" fmla="val 7899"/>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81725" y="602754"/>
            <a:ext cx="82250" cy="82252"/>
          </a:xfrm>
          <a:prstGeom prst="rect">
            <a:avLst/>
          </a:prstGeom>
        </p:spPr>
      </p:pic>
      <p:sp>
        <p:nvSpPr>
          <p:cNvPr id="4" name="Text 1"/>
          <p:cNvSpPr/>
          <p:nvPr/>
        </p:nvSpPr>
        <p:spPr>
          <a:xfrm>
            <a:off x="905051" y="596602"/>
            <a:ext cx="1583988" cy="94555"/>
          </a:xfrm>
          <a:prstGeom prst="rect">
            <a:avLst/>
          </a:prstGeom>
          <a:noFill/>
          <a:ln/>
        </p:spPr>
        <p:txBody>
          <a:bodyPr wrap="none" lIns="0" tIns="0" rIns="0" bIns="0" rtlCol="0" anchor="t"/>
          <a:lstStyle/>
          <a:p>
            <a:pPr algn="l" indent="0" marL="0">
              <a:lnSpc>
                <a:spcPct val="96000"/>
              </a:lnSpc>
              <a:buNone/>
            </a:pPr>
            <a:r>
              <a:rPr lang="en-US" sz="600" dirty="0">
                <a:solidFill>
                  <a:srgbClr val="CFCBBF"/>
                </a:solidFill>
                <a:latin typeface="Raleway" pitchFamily="34" charset="0"/>
                <a:ea typeface="Raleway" pitchFamily="34" charset="-122"/>
                <a:cs typeface="Raleway" pitchFamily="34" charset="-120"/>
              </a:rPr>
              <a:t>CHAPTER 2 · SECTION 2.5</a:t>
            </a:r>
            <a:endParaRPr lang="en-US" sz="600" dirty="0"/>
          </a:p>
        </p:txBody>
      </p:sp>
      <p:sp>
        <p:nvSpPr>
          <p:cNvPr id="5" name="Text 2"/>
          <p:cNvSpPr/>
          <p:nvPr/>
        </p:nvSpPr>
        <p:spPr>
          <a:xfrm>
            <a:off x="720012" y="742553"/>
            <a:ext cx="10751670" cy="321469"/>
          </a:xfrm>
          <a:prstGeom prst="rect">
            <a:avLst/>
          </a:prstGeom>
          <a:noFill/>
          <a:ln/>
        </p:spPr>
        <p:txBody>
          <a:bodyPr wrap="none" lIns="0" tIns="0" rIns="0" bIns="0" rtlCol="0" anchor="t"/>
          <a:lstStyle/>
          <a:p>
            <a:pPr algn="l" indent="0" marL="0">
              <a:lnSpc>
                <a:spcPct val="104000"/>
              </a:lnSpc>
              <a:buNone/>
            </a:pPr>
            <a:r>
              <a:rPr lang="en-US" sz="2000" dirty="0">
                <a:solidFill>
                  <a:srgbClr val="F2E782"/>
                </a:solidFill>
                <a:latin typeface="Prata" pitchFamily="34" charset="0"/>
                <a:ea typeface="Prata" pitchFamily="34" charset="-122"/>
                <a:cs typeface="Prata" pitchFamily="34" charset="-120"/>
              </a:rPr>
              <a:t>Functional Requirements — Housekeeping &amp; Maintenance</a:t>
            </a:r>
            <a:endParaRPr lang="en-US" sz="2000" dirty="0"/>
          </a:p>
        </p:txBody>
      </p:sp>
      <p:sp>
        <p:nvSpPr>
          <p:cNvPr id="6" name="Text 3"/>
          <p:cNvSpPr/>
          <p:nvPr/>
        </p:nvSpPr>
        <p:spPr>
          <a:xfrm>
            <a:off x="720012" y="1141115"/>
            <a:ext cx="10751670"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The housekeeping and maintenance module transforms ad-hoc task coordination into a structured, trackable workflow. Every room inspection, cleaning cycle, and maintenance ticket flows through a defined process with accountability at each stage.</a:t>
            </a:r>
            <a:endParaRPr lang="en-US" sz="800" dirty="0"/>
          </a:p>
        </p:txBody>
      </p:sp>
      <p:sp>
        <p:nvSpPr>
          <p:cNvPr id="7" name="Text 4"/>
          <p:cNvSpPr/>
          <p:nvPr/>
        </p:nvSpPr>
        <p:spPr>
          <a:xfrm>
            <a:off x="720012" y="1497211"/>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Housekeeping Management</a:t>
            </a:r>
            <a:endParaRPr lang="en-US" sz="1000" dirty="0"/>
          </a:p>
        </p:txBody>
      </p:sp>
      <p:sp>
        <p:nvSpPr>
          <p:cNvPr id="8" name="Text 5"/>
          <p:cNvSpPr/>
          <p:nvPr/>
        </p:nvSpPr>
        <p:spPr>
          <a:xfrm>
            <a:off x="720012" y="1709341"/>
            <a:ext cx="5250426" cy="830362"/>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Staff dashboard showing real-time room status grid sorted by priority</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Automatic priority elevation for checked-out rooms awaiting new guests</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Cleaning task checklist per room type with custom items per property</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Supervisor inspection sign-off before room returns to Available status</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Shift-based task distribution with workload balancing across staff</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Linen and amenity restocking requests linked to inventory module</a:t>
            </a:r>
            <a:endParaRPr lang="en-US" sz="800" dirty="0"/>
          </a:p>
        </p:txBody>
      </p:sp>
      <p:sp>
        <p:nvSpPr>
          <p:cNvPr id="9" name="Text 6"/>
          <p:cNvSpPr/>
          <p:nvPr/>
        </p:nvSpPr>
        <p:spPr>
          <a:xfrm>
            <a:off x="6227607" y="1497211"/>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Maintenance Request Workflow</a:t>
            </a:r>
            <a:endParaRPr lang="en-US" sz="1000" dirty="0"/>
          </a:p>
        </p:txBody>
      </p:sp>
      <p:sp>
        <p:nvSpPr>
          <p:cNvPr id="10" name="Text 7"/>
          <p:cNvSpPr/>
          <p:nvPr/>
        </p:nvSpPr>
        <p:spPr>
          <a:xfrm>
            <a:off x="6227607" y="1709341"/>
            <a:ext cx="5250426" cy="830362"/>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Any staff member can raise a maintenance ticket with description and photo</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Tickets categorized by type: Electrical, Plumbing, HVAC, Furniture, Safety</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Priority levels: Critical (2hr SLA), High (8hr), Medium (24hr), Low (72hr)</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Automatic escalation if SLA threshold is breached without resolution</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Technician assignment with estimated completion time commitment</a:t>
            </a:r>
            <a:endParaRPr lang="en-US" sz="800" dirty="0"/>
          </a:p>
          <a:p>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Resolution notes and cost capture for maintenance budget reporting</a:t>
            </a:r>
            <a:endParaRPr lang="en-US" sz="800" dirty="0"/>
          </a:p>
        </p:txBody>
      </p:sp>
      <p:pic>
        <p:nvPicPr>
          <p:cNvPr id="11" name="Image 1" descr="preencoded.png">    </p:cNvPr>
          <p:cNvPicPr>
            <a:picLocks noChangeAspect="1"/>
          </p:cNvPicPr>
          <p:nvPr/>
        </p:nvPicPr>
        <p:blipFill>
          <a:blip r:embed="rId2"/>
          <a:stretch>
            <a:fillRect/>
          </a:stretch>
        </p:blipFill>
        <p:spPr>
          <a:xfrm>
            <a:off x="720012" y="2615505"/>
            <a:ext cx="9753356" cy="5486400"/>
          </a:xfrm>
          <a:prstGeom prst="rect">
            <a:avLst/>
          </a:prstGeom>
        </p:spPr>
      </p:pic>
      <p:sp>
        <p:nvSpPr>
          <p:cNvPr id="12" name="Text 8"/>
          <p:cNvSpPr/>
          <p:nvPr/>
        </p:nvSpPr>
        <p:spPr>
          <a:xfrm>
            <a:off x="6924823" y="4742248"/>
            <a:ext cx="958268" cy="358445"/>
          </a:xfrm>
          <a:prstGeom prst="rect">
            <a:avLst/>
          </a:prstGeom>
          <a:noFill/>
          <a:ln/>
        </p:spPr>
        <p:txBody>
          <a:bodyPr wrap="square" lIns="0" tIns="0" rIns="0" bIns="0" rtlCol="0" anchor="t">
            <a:normAutofit/>
          </a:bodyPr>
          <a:lstStyle/>
          <a:p>
            <a:pPr algn="ctr" indent="0" marL="0">
              <a:lnSpc>
                <a:spcPct val="104000"/>
              </a:lnSpc>
              <a:buNone/>
            </a:pPr>
            <a:r>
              <a:rPr lang="en-US" sz="1100" b="1" dirty="0">
                <a:solidFill>
                  <a:srgbClr val="FFFFFF"/>
                </a:solidFill>
                <a:latin typeface="Prata" pitchFamily="34" charset="0"/>
                <a:ea typeface="Prata" pitchFamily="34" charset="-122"/>
                <a:cs typeface="Prata" pitchFamily="34" charset="-120"/>
              </a:rPr>
              <a:t>Task Assignment</a:t>
            </a:r>
            <a:endParaRPr lang="en-US" sz="1100" dirty="0"/>
          </a:p>
        </p:txBody>
      </p:sp>
      <p:sp>
        <p:nvSpPr>
          <p:cNvPr id="13" name="Text 9"/>
          <p:cNvSpPr/>
          <p:nvPr/>
        </p:nvSpPr>
        <p:spPr>
          <a:xfrm>
            <a:off x="6846949" y="5257055"/>
            <a:ext cx="1124988" cy="233781"/>
          </a:xfrm>
          <a:prstGeom prst="rect">
            <a:avLst/>
          </a:prstGeom>
          <a:noFill/>
          <a:ln/>
        </p:spPr>
        <p:txBody>
          <a:bodyPr wrap="square" lIns="0" tIns="0" rIns="0" bIns="0" rtlCol="0" anchor="t">
            <a:normAutofit/>
          </a:bodyPr>
          <a:lstStyle/>
          <a:p>
            <a:pPr algn="ctr" indent="0" marL="0">
              <a:lnSpc>
                <a:spcPct val="78000"/>
              </a:lnSpc>
              <a:buNone/>
            </a:pPr>
            <a:r>
              <a:rPr lang="en-US" sz="950" dirty="0">
                <a:solidFill>
                  <a:srgbClr val="FFFFFF"/>
                </a:solidFill>
                <a:latin typeface="Raleway" pitchFamily="34" charset="0"/>
                <a:ea typeface="Raleway" pitchFamily="34" charset="-122"/>
                <a:cs typeface="Raleway" pitchFamily="34" charset="-120"/>
              </a:rPr>
              <a:t>(supervisor assigns to staff)</a:t>
            </a:r>
            <a:endParaRPr lang="en-US" sz="950" dirty="0"/>
          </a:p>
        </p:txBody>
      </p:sp>
      <p:pic>
        <p:nvPicPr>
          <p:cNvPr id="14"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012" y="8159750"/>
            <a:ext cx="5350138" cy="965398"/>
          </a:xfrm>
          <a:prstGeom prst="rect">
            <a:avLst/>
          </a:prstGeom>
        </p:spPr>
      </p:pic>
      <p:sp>
        <p:nvSpPr>
          <p:cNvPr id="15" name="Text 10"/>
          <p:cNvSpPr/>
          <p:nvPr/>
        </p:nvSpPr>
        <p:spPr>
          <a:xfrm>
            <a:off x="3333369" y="8236843"/>
            <a:ext cx="123425" cy="154285"/>
          </a:xfrm>
          <a:prstGeom prst="rect">
            <a:avLst/>
          </a:prstGeom>
          <a:noFill/>
          <a:ln/>
        </p:spPr>
        <p:txBody>
          <a:bodyPr wrap="none" lIns="0" tIns="0" rIns="0" bIns="0" rtlCol="0" anchor="ctr"/>
          <a:lstStyle/>
          <a:p>
            <a:pPr algn="ctr" indent="0" marL="0">
              <a:lnSpc>
                <a:spcPct val="100000"/>
              </a:lnSpc>
              <a:buNone/>
            </a:pPr>
            <a:r>
              <a:rPr lang="en-US" sz="950" dirty="0">
                <a:solidFill>
                  <a:srgbClr val="000000"/>
                </a:solidFill>
                <a:latin typeface="Prata" pitchFamily="34" charset="0"/>
                <a:ea typeface="Prata" pitchFamily="34" charset="-122"/>
                <a:cs typeface="Prata" pitchFamily="34" charset="-120"/>
              </a:rPr>
              <a:t>1</a:t>
            </a:r>
            <a:endParaRPr lang="en-US" sz="950" dirty="0"/>
          </a:p>
        </p:txBody>
      </p:sp>
      <p:sp>
        <p:nvSpPr>
          <p:cNvPr id="16" name="Text 11"/>
          <p:cNvSpPr/>
          <p:nvPr/>
        </p:nvSpPr>
        <p:spPr>
          <a:xfrm>
            <a:off x="835500" y="8571210"/>
            <a:ext cx="5119163" cy="160734"/>
          </a:xfrm>
          <a:prstGeom prst="rect">
            <a:avLst/>
          </a:prstGeom>
          <a:noFill/>
          <a:ln/>
        </p:spPr>
        <p:txBody>
          <a:bodyPr wrap="none" lIns="0" tIns="0" rIns="0" bIns="0" rtlCol="0" anchor="t"/>
          <a:lstStyle/>
          <a:p>
            <a:pPr algn="l" indent="0" marL="0">
              <a:lnSpc>
                <a:spcPct val="104000"/>
              </a:lnSpc>
              <a:buNone/>
            </a:pPr>
            <a:r>
              <a:rPr lang="en-US" sz="1000" dirty="0">
                <a:solidFill>
                  <a:srgbClr val="CFCBBF"/>
                </a:solidFill>
                <a:latin typeface="Prata" pitchFamily="34" charset="0"/>
                <a:ea typeface="Prata" pitchFamily="34" charset="-122"/>
                <a:cs typeface="Prata" pitchFamily="34" charset="-120"/>
              </a:rPr>
              <a:t>Report Issue</a:t>
            </a:r>
            <a:endParaRPr lang="en-US" sz="1000" dirty="0"/>
          </a:p>
        </p:txBody>
      </p:sp>
      <p:sp>
        <p:nvSpPr>
          <p:cNvPr id="17" name="Text 12"/>
          <p:cNvSpPr/>
          <p:nvPr/>
        </p:nvSpPr>
        <p:spPr>
          <a:xfrm>
            <a:off x="835500" y="8762802"/>
            <a:ext cx="5119163"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Staff photographs and describes the defect, selects category and priority, and submits the ticket. Room automatically flagged as under Maintenance if severity warrants.</a:t>
            </a:r>
            <a:endParaRPr lang="en-US" sz="800" dirty="0"/>
          </a:p>
        </p:txBody>
      </p:sp>
      <p:pic>
        <p:nvPicPr>
          <p:cNvPr id="18"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1545" y="8159750"/>
            <a:ext cx="5350138" cy="965398"/>
          </a:xfrm>
          <a:prstGeom prst="rect">
            <a:avLst/>
          </a:prstGeom>
        </p:spPr>
      </p:pic>
      <p:sp>
        <p:nvSpPr>
          <p:cNvPr id="19" name="Text 13"/>
          <p:cNvSpPr/>
          <p:nvPr/>
        </p:nvSpPr>
        <p:spPr>
          <a:xfrm>
            <a:off x="8734901" y="8236843"/>
            <a:ext cx="123425" cy="154285"/>
          </a:xfrm>
          <a:prstGeom prst="rect">
            <a:avLst/>
          </a:prstGeom>
          <a:noFill/>
          <a:ln/>
        </p:spPr>
        <p:txBody>
          <a:bodyPr wrap="none" lIns="0" tIns="0" rIns="0" bIns="0" rtlCol="0" anchor="ctr"/>
          <a:lstStyle/>
          <a:p>
            <a:pPr algn="ctr" indent="0" marL="0">
              <a:lnSpc>
                <a:spcPct val="100000"/>
              </a:lnSpc>
              <a:buNone/>
            </a:pPr>
            <a:r>
              <a:rPr lang="en-US" sz="950" dirty="0">
                <a:solidFill>
                  <a:srgbClr val="000000"/>
                </a:solidFill>
                <a:latin typeface="Prata" pitchFamily="34" charset="0"/>
                <a:ea typeface="Prata" pitchFamily="34" charset="-122"/>
                <a:cs typeface="Prata" pitchFamily="34" charset="-120"/>
              </a:rPr>
              <a:t>2</a:t>
            </a:r>
            <a:endParaRPr lang="en-US" sz="950" dirty="0"/>
          </a:p>
        </p:txBody>
      </p:sp>
      <p:sp>
        <p:nvSpPr>
          <p:cNvPr id="20" name="Text 14"/>
          <p:cNvSpPr/>
          <p:nvPr/>
        </p:nvSpPr>
        <p:spPr>
          <a:xfrm>
            <a:off x="6237032" y="8571210"/>
            <a:ext cx="5119163" cy="160734"/>
          </a:xfrm>
          <a:prstGeom prst="rect">
            <a:avLst/>
          </a:prstGeom>
          <a:noFill/>
          <a:ln/>
        </p:spPr>
        <p:txBody>
          <a:bodyPr wrap="none" lIns="0" tIns="0" rIns="0" bIns="0" rtlCol="0" anchor="t"/>
          <a:lstStyle/>
          <a:p>
            <a:pPr algn="l" indent="0" marL="0">
              <a:lnSpc>
                <a:spcPct val="104000"/>
              </a:lnSpc>
              <a:buNone/>
            </a:pPr>
            <a:r>
              <a:rPr lang="en-US" sz="1000" dirty="0">
                <a:solidFill>
                  <a:srgbClr val="CFCBBF"/>
                </a:solidFill>
                <a:latin typeface="Prata" pitchFamily="34" charset="0"/>
                <a:ea typeface="Prata" pitchFamily="34" charset="-122"/>
                <a:cs typeface="Prata" pitchFamily="34" charset="-120"/>
              </a:rPr>
              <a:t>Assign Technician</a:t>
            </a:r>
            <a:endParaRPr lang="en-US" sz="1000" dirty="0"/>
          </a:p>
        </p:txBody>
      </p:sp>
      <p:sp>
        <p:nvSpPr>
          <p:cNvPr id="21" name="Text 15"/>
          <p:cNvSpPr/>
          <p:nvPr/>
        </p:nvSpPr>
        <p:spPr>
          <a:xfrm>
            <a:off x="6237032" y="8762802"/>
            <a:ext cx="5119163"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Maintenance supervisor receives alert, reviews ticket, assigns qualified technician, and sets target resolution time based on SLA tier.</a:t>
            </a:r>
            <a:endParaRPr lang="en-US" sz="800" dirty="0"/>
          </a:p>
        </p:txBody>
      </p:sp>
      <p:pic>
        <p:nvPicPr>
          <p:cNvPr id="22"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012" y="9176544"/>
            <a:ext cx="5350138" cy="965398"/>
          </a:xfrm>
          <a:prstGeom prst="rect">
            <a:avLst/>
          </a:prstGeom>
        </p:spPr>
      </p:pic>
      <p:sp>
        <p:nvSpPr>
          <p:cNvPr id="23" name="Text 16"/>
          <p:cNvSpPr/>
          <p:nvPr/>
        </p:nvSpPr>
        <p:spPr>
          <a:xfrm>
            <a:off x="3333369" y="9253637"/>
            <a:ext cx="123425" cy="154285"/>
          </a:xfrm>
          <a:prstGeom prst="rect">
            <a:avLst/>
          </a:prstGeom>
          <a:noFill/>
          <a:ln/>
        </p:spPr>
        <p:txBody>
          <a:bodyPr wrap="none" lIns="0" tIns="0" rIns="0" bIns="0" rtlCol="0" anchor="ctr"/>
          <a:lstStyle/>
          <a:p>
            <a:pPr algn="ctr" indent="0" marL="0">
              <a:lnSpc>
                <a:spcPct val="100000"/>
              </a:lnSpc>
              <a:buNone/>
            </a:pPr>
            <a:r>
              <a:rPr lang="en-US" sz="950" dirty="0">
                <a:solidFill>
                  <a:srgbClr val="000000"/>
                </a:solidFill>
                <a:latin typeface="Prata" pitchFamily="34" charset="0"/>
                <a:ea typeface="Prata" pitchFamily="34" charset="-122"/>
                <a:cs typeface="Prata" pitchFamily="34" charset="-120"/>
              </a:rPr>
              <a:t>3</a:t>
            </a:r>
            <a:endParaRPr lang="en-US" sz="950" dirty="0"/>
          </a:p>
        </p:txBody>
      </p:sp>
      <p:sp>
        <p:nvSpPr>
          <p:cNvPr id="24" name="Text 17"/>
          <p:cNvSpPr/>
          <p:nvPr/>
        </p:nvSpPr>
        <p:spPr>
          <a:xfrm>
            <a:off x="835500" y="9588004"/>
            <a:ext cx="5119163" cy="160734"/>
          </a:xfrm>
          <a:prstGeom prst="rect">
            <a:avLst/>
          </a:prstGeom>
          <a:noFill/>
          <a:ln/>
        </p:spPr>
        <p:txBody>
          <a:bodyPr wrap="none" lIns="0" tIns="0" rIns="0" bIns="0" rtlCol="0" anchor="t"/>
          <a:lstStyle/>
          <a:p>
            <a:pPr algn="l" indent="0" marL="0">
              <a:lnSpc>
                <a:spcPct val="104000"/>
              </a:lnSpc>
              <a:buNone/>
            </a:pPr>
            <a:r>
              <a:rPr lang="en-US" sz="1000" dirty="0">
                <a:solidFill>
                  <a:srgbClr val="CFCBBF"/>
                </a:solidFill>
                <a:latin typeface="Prata" pitchFamily="34" charset="0"/>
                <a:ea typeface="Prata" pitchFamily="34" charset="-122"/>
                <a:cs typeface="Prata" pitchFamily="34" charset="-120"/>
              </a:rPr>
              <a:t>Execute &amp; Document</a:t>
            </a:r>
            <a:endParaRPr lang="en-US" sz="1000" dirty="0"/>
          </a:p>
        </p:txBody>
      </p:sp>
      <p:sp>
        <p:nvSpPr>
          <p:cNvPr id="25" name="Text 18"/>
          <p:cNvSpPr/>
          <p:nvPr/>
        </p:nvSpPr>
        <p:spPr>
          <a:xfrm>
            <a:off x="835500" y="9779595"/>
            <a:ext cx="5119163"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Technician updates ticket status to In Progress, logs work performed, captures parts used and labor hours, then marks Complete with resolution notes.</a:t>
            </a:r>
            <a:endParaRPr lang="en-US" sz="800" dirty="0"/>
          </a:p>
        </p:txBody>
      </p:sp>
      <p:pic>
        <p:nvPicPr>
          <p:cNvPr id="2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1545" y="9176544"/>
            <a:ext cx="5350138" cy="965398"/>
          </a:xfrm>
          <a:prstGeom prst="rect">
            <a:avLst/>
          </a:prstGeom>
        </p:spPr>
      </p:pic>
      <p:sp>
        <p:nvSpPr>
          <p:cNvPr id="27" name="Text 19"/>
          <p:cNvSpPr/>
          <p:nvPr/>
        </p:nvSpPr>
        <p:spPr>
          <a:xfrm>
            <a:off x="8734901" y="9253637"/>
            <a:ext cx="123425" cy="154285"/>
          </a:xfrm>
          <a:prstGeom prst="rect">
            <a:avLst/>
          </a:prstGeom>
          <a:noFill/>
          <a:ln/>
        </p:spPr>
        <p:txBody>
          <a:bodyPr wrap="none" lIns="0" tIns="0" rIns="0" bIns="0" rtlCol="0" anchor="ctr"/>
          <a:lstStyle/>
          <a:p>
            <a:pPr algn="ctr" indent="0" marL="0">
              <a:lnSpc>
                <a:spcPct val="100000"/>
              </a:lnSpc>
              <a:buNone/>
            </a:pPr>
            <a:r>
              <a:rPr lang="en-US" sz="950" dirty="0">
                <a:solidFill>
                  <a:srgbClr val="000000"/>
                </a:solidFill>
                <a:latin typeface="Prata" pitchFamily="34" charset="0"/>
                <a:ea typeface="Prata" pitchFamily="34" charset="-122"/>
                <a:cs typeface="Prata" pitchFamily="34" charset="-120"/>
              </a:rPr>
              <a:t>4</a:t>
            </a:r>
            <a:endParaRPr lang="en-US" sz="950" dirty="0"/>
          </a:p>
        </p:txBody>
      </p:sp>
      <p:sp>
        <p:nvSpPr>
          <p:cNvPr id="28" name="Text 20"/>
          <p:cNvSpPr/>
          <p:nvPr/>
        </p:nvSpPr>
        <p:spPr>
          <a:xfrm>
            <a:off x="6237032" y="9588004"/>
            <a:ext cx="5119163" cy="160734"/>
          </a:xfrm>
          <a:prstGeom prst="rect">
            <a:avLst/>
          </a:prstGeom>
          <a:noFill/>
          <a:ln/>
        </p:spPr>
        <p:txBody>
          <a:bodyPr wrap="none" lIns="0" tIns="0" rIns="0" bIns="0" rtlCol="0" anchor="t"/>
          <a:lstStyle/>
          <a:p>
            <a:pPr algn="l" indent="0" marL="0">
              <a:lnSpc>
                <a:spcPct val="104000"/>
              </a:lnSpc>
              <a:buNone/>
            </a:pPr>
            <a:r>
              <a:rPr lang="en-US" sz="1000" dirty="0">
                <a:solidFill>
                  <a:srgbClr val="CFCBBF"/>
                </a:solidFill>
                <a:latin typeface="Prata" pitchFamily="34" charset="0"/>
                <a:ea typeface="Prata" pitchFamily="34" charset="-122"/>
                <a:cs typeface="Prata" pitchFamily="34" charset="-120"/>
              </a:rPr>
              <a:t>Close &amp; Release</a:t>
            </a:r>
            <a:endParaRPr lang="en-US" sz="1000" dirty="0"/>
          </a:p>
        </p:txBody>
      </p:sp>
      <p:sp>
        <p:nvSpPr>
          <p:cNvPr id="29" name="Text 21"/>
          <p:cNvSpPr/>
          <p:nvPr/>
        </p:nvSpPr>
        <p:spPr>
          <a:xfrm>
            <a:off x="6237032" y="9779595"/>
            <a:ext cx="5119163"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Supervisor verifies resolution, closes the ticket, and releases the room back to the housekeeping queue. Costs are posted to the maintenance budget ledger.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20012" y="565745"/>
            <a:ext cx="1205775" cy="156270"/>
          </a:xfrm>
          <a:prstGeom prst="roundRect">
            <a:avLst>
              <a:gd name="adj" fmla="val 7899"/>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81725" y="602754"/>
            <a:ext cx="82250" cy="82252"/>
          </a:xfrm>
          <a:prstGeom prst="rect">
            <a:avLst/>
          </a:prstGeom>
        </p:spPr>
      </p:pic>
      <p:sp>
        <p:nvSpPr>
          <p:cNvPr id="4" name="Text 1"/>
          <p:cNvSpPr/>
          <p:nvPr/>
        </p:nvSpPr>
        <p:spPr>
          <a:xfrm>
            <a:off x="905051" y="596602"/>
            <a:ext cx="1568609" cy="94555"/>
          </a:xfrm>
          <a:prstGeom prst="rect">
            <a:avLst/>
          </a:prstGeom>
          <a:noFill/>
          <a:ln/>
        </p:spPr>
        <p:txBody>
          <a:bodyPr wrap="none" lIns="0" tIns="0" rIns="0" bIns="0" rtlCol="0" anchor="t"/>
          <a:lstStyle/>
          <a:p>
            <a:pPr algn="l" indent="0" marL="0">
              <a:lnSpc>
                <a:spcPct val="96000"/>
              </a:lnSpc>
              <a:buNone/>
            </a:pPr>
            <a:r>
              <a:rPr lang="en-US" sz="600" dirty="0">
                <a:solidFill>
                  <a:srgbClr val="CFCBBF"/>
                </a:solidFill>
                <a:latin typeface="Raleway" pitchFamily="34" charset="0"/>
                <a:ea typeface="Raleway" pitchFamily="34" charset="-122"/>
                <a:cs typeface="Raleway" pitchFamily="34" charset="-120"/>
              </a:rPr>
              <a:t>SYSTEM ARCHITECTURE</a:t>
            </a:r>
            <a:endParaRPr lang="en-US" sz="600" dirty="0"/>
          </a:p>
        </p:txBody>
      </p:sp>
      <p:sp>
        <p:nvSpPr>
          <p:cNvPr id="5" name="Text 2"/>
          <p:cNvSpPr/>
          <p:nvPr/>
        </p:nvSpPr>
        <p:spPr>
          <a:xfrm>
            <a:off x="720012" y="742553"/>
            <a:ext cx="10751670" cy="321469"/>
          </a:xfrm>
          <a:prstGeom prst="rect">
            <a:avLst/>
          </a:prstGeom>
          <a:noFill/>
          <a:ln/>
        </p:spPr>
        <p:txBody>
          <a:bodyPr wrap="none" lIns="0" tIns="0" rIns="0" bIns="0" rtlCol="0" anchor="t"/>
          <a:lstStyle/>
          <a:p>
            <a:pPr algn="l" indent="0" marL="0">
              <a:lnSpc>
                <a:spcPct val="104000"/>
              </a:lnSpc>
              <a:buNone/>
            </a:pPr>
            <a:r>
              <a:rPr lang="en-US" sz="2000" dirty="0">
                <a:solidFill>
                  <a:srgbClr val="F2E782"/>
                </a:solidFill>
                <a:latin typeface="Prata" pitchFamily="34" charset="0"/>
                <a:ea typeface="Prata" pitchFamily="34" charset="-122"/>
                <a:cs typeface="Prata" pitchFamily="34" charset="-120"/>
              </a:rPr>
              <a:t>System Architecture &amp; API Specification</a:t>
            </a:r>
            <a:endParaRPr lang="en-US" sz="2000" dirty="0"/>
          </a:p>
        </p:txBody>
      </p:sp>
      <p:sp>
        <p:nvSpPr>
          <p:cNvPr id="6" name="Text 3"/>
          <p:cNvSpPr/>
          <p:nvPr/>
        </p:nvSpPr>
        <p:spPr>
          <a:xfrm>
            <a:off x="720012" y="1141115"/>
            <a:ext cx="10751670"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CFCBBF"/>
                </a:solidFill>
                <a:latin typeface="Raleway" pitchFamily="34" charset="0"/>
                <a:ea typeface="Raleway" pitchFamily="34" charset="-122"/>
                <a:cs typeface="Raleway" pitchFamily="34" charset="-120"/>
              </a:rPr>
              <a:t>The HMS is built on a three-tier RESTful architecture with clear separation between the React frontend, Express/Node.js API layer, and MongoDB data layer. All inter-service communication uses JSON over HTTPS, with JWT tokens carried in HTTP-only cookies for session security.</a:t>
            </a:r>
            <a:endParaRPr lang="en-US" sz="800" dirty="0"/>
          </a:p>
        </p:txBody>
      </p:sp>
      <p:pic>
        <p:nvPicPr>
          <p:cNvPr id="7" name="Image 1" descr="preencoded.png">    </p:cNvPr>
          <p:cNvPicPr>
            <a:picLocks noChangeAspect="1"/>
          </p:cNvPicPr>
          <p:nvPr/>
        </p:nvPicPr>
        <p:blipFill>
          <a:blip r:embed="rId2"/>
          <a:stretch>
            <a:fillRect/>
          </a:stretch>
        </p:blipFill>
        <p:spPr>
          <a:xfrm>
            <a:off x="720012" y="1445816"/>
            <a:ext cx="10751670" cy="4920555"/>
          </a:xfrm>
          <a:prstGeom prst="rect">
            <a:avLst/>
          </a:prstGeom>
        </p:spPr>
      </p:pic>
      <p:sp>
        <p:nvSpPr>
          <p:cNvPr id="8" name="Text 4"/>
          <p:cNvSpPr/>
          <p:nvPr/>
        </p:nvSpPr>
        <p:spPr>
          <a:xfrm>
            <a:off x="8595646" y="2128927"/>
            <a:ext cx="2378371" cy="297304"/>
          </a:xfrm>
          <a:prstGeom prst="rect">
            <a:avLst/>
          </a:prstGeom>
          <a:noFill/>
          <a:ln/>
        </p:spPr>
        <p:txBody>
          <a:bodyPr wrap="none" lIns="0" tIns="0" rIns="0" bIns="0" rtlCol="0" anchor="t"/>
          <a:lstStyle/>
          <a:p>
            <a:pPr algn="l" indent="0" marL="0">
              <a:lnSpc>
                <a:spcPct val="104000"/>
              </a:lnSpc>
              <a:buNone/>
            </a:pPr>
            <a:r>
              <a:rPr lang="en-US" sz="1850" dirty="0">
                <a:solidFill>
                  <a:srgbClr val="CFCBBF"/>
                </a:solidFill>
                <a:latin typeface="Prata" pitchFamily="34" charset="0"/>
                <a:ea typeface="Prata" pitchFamily="34" charset="-122"/>
                <a:cs typeface="Prata" pitchFamily="34" charset="-120"/>
              </a:rPr>
              <a:t>Data Layer</a:t>
            </a:r>
            <a:endParaRPr lang="en-US" sz="1850" dirty="0"/>
          </a:p>
        </p:txBody>
      </p:sp>
      <p:sp>
        <p:nvSpPr>
          <p:cNvPr id="9" name="Text 5"/>
          <p:cNvSpPr/>
          <p:nvPr/>
        </p:nvSpPr>
        <p:spPr>
          <a:xfrm>
            <a:off x="8595646" y="2510798"/>
            <a:ext cx="2621494" cy="356765"/>
          </a:xfrm>
          <a:prstGeom prst="rect">
            <a:avLst/>
          </a:prstGeom>
          <a:noFill/>
          <a:ln/>
        </p:spPr>
        <p:txBody>
          <a:bodyPr wrap="square" lIns="0" tIns="0" rIns="0" bIns="0" rtlCol="0" anchor="t">
            <a:normAutofit/>
          </a:bodyPr>
          <a:lstStyle/>
          <a:p>
            <a:pPr algn="l" indent="0" marL="0">
              <a:lnSpc>
                <a:spcPct val="78000"/>
              </a:lnSpc>
              <a:buNone/>
            </a:pPr>
            <a:r>
              <a:rPr lang="en-US" sz="1450" dirty="0">
                <a:solidFill>
                  <a:srgbClr val="CFCBBF"/>
                </a:solidFill>
                <a:latin typeface="Raleway" pitchFamily="34" charset="0"/>
                <a:ea typeface="Raleway" pitchFamily="34" charset="-122"/>
                <a:cs typeface="Raleway" pitchFamily="34" charset="-120"/>
              </a:rPr>
              <a:t>MongoDB accessed via Mongoose ODM</a:t>
            </a:r>
            <a:endParaRPr lang="en-US" sz="1450" dirty="0"/>
          </a:p>
        </p:txBody>
      </p:sp>
      <p:sp>
        <p:nvSpPr>
          <p:cNvPr id="10" name="Text 6"/>
          <p:cNvSpPr/>
          <p:nvPr/>
        </p:nvSpPr>
        <p:spPr>
          <a:xfrm>
            <a:off x="1005999" y="3746260"/>
            <a:ext cx="2378371" cy="297304"/>
          </a:xfrm>
          <a:prstGeom prst="rect">
            <a:avLst/>
          </a:prstGeom>
          <a:noFill/>
          <a:ln/>
        </p:spPr>
        <p:txBody>
          <a:bodyPr wrap="none" lIns="0" tIns="0" rIns="0" bIns="0" rtlCol="0" anchor="t"/>
          <a:lstStyle/>
          <a:p>
            <a:pPr algn="r" indent="0" marL="0">
              <a:lnSpc>
                <a:spcPct val="104000"/>
              </a:lnSpc>
              <a:buNone/>
            </a:pPr>
            <a:r>
              <a:rPr lang="en-US" sz="1850" dirty="0">
                <a:solidFill>
                  <a:srgbClr val="CFCBBF"/>
                </a:solidFill>
                <a:latin typeface="Prata" pitchFamily="34" charset="0"/>
                <a:ea typeface="Prata" pitchFamily="34" charset="-122"/>
                <a:cs typeface="Prata" pitchFamily="34" charset="-120"/>
              </a:rPr>
              <a:t>API Middleware</a:t>
            </a:r>
            <a:endParaRPr lang="en-US" sz="1850" dirty="0"/>
          </a:p>
        </p:txBody>
      </p:sp>
      <p:sp>
        <p:nvSpPr>
          <p:cNvPr id="11" name="Text 7"/>
          <p:cNvSpPr/>
          <p:nvPr/>
        </p:nvSpPr>
        <p:spPr>
          <a:xfrm>
            <a:off x="974287" y="4128130"/>
            <a:ext cx="2410083" cy="356765"/>
          </a:xfrm>
          <a:prstGeom prst="rect">
            <a:avLst/>
          </a:prstGeom>
          <a:noFill/>
          <a:ln/>
        </p:spPr>
        <p:txBody>
          <a:bodyPr wrap="square" lIns="0" tIns="0" rIns="0" bIns="0" rtlCol="0" anchor="t">
            <a:normAutofit/>
          </a:bodyPr>
          <a:lstStyle/>
          <a:p>
            <a:pPr algn="r" indent="0" marL="0">
              <a:lnSpc>
                <a:spcPct val="78000"/>
              </a:lnSpc>
              <a:buNone/>
            </a:pPr>
            <a:r>
              <a:rPr lang="en-US" sz="1450" dirty="0">
                <a:solidFill>
                  <a:srgbClr val="CFCBBF"/>
                </a:solidFill>
                <a:latin typeface="Raleway" pitchFamily="34" charset="0"/>
                <a:ea typeface="Raleway" pitchFamily="34" charset="-122"/>
                <a:cs typeface="Raleway" pitchFamily="34" charset="-120"/>
              </a:rPr>
              <a:t>Express.js with Auth, Validation, Rate Limiting</a:t>
            </a:r>
            <a:endParaRPr lang="en-US" sz="1450" dirty="0"/>
          </a:p>
        </p:txBody>
      </p:sp>
      <p:sp>
        <p:nvSpPr>
          <p:cNvPr id="12" name="Text 8"/>
          <p:cNvSpPr/>
          <p:nvPr/>
        </p:nvSpPr>
        <p:spPr>
          <a:xfrm>
            <a:off x="8595646" y="4581354"/>
            <a:ext cx="2378371" cy="297304"/>
          </a:xfrm>
          <a:prstGeom prst="rect">
            <a:avLst/>
          </a:prstGeom>
          <a:noFill/>
          <a:ln/>
        </p:spPr>
        <p:txBody>
          <a:bodyPr wrap="none" lIns="0" tIns="0" rIns="0" bIns="0" rtlCol="0" anchor="t"/>
          <a:lstStyle/>
          <a:p>
            <a:pPr algn="l" indent="0" marL="0">
              <a:lnSpc>
                <a:spcPct val="104000"/>
              </a:lnSpc>
              <a:buNone/>
            </a:pPr>
            <a:r>
              <a:rPr lang="en-US" sz="1850" dirty="0">
                <a:solidFill>
                  <a:srgbClr val="CFCBBF"/>
                </a:solidFill>
                <a:latin typeface="Prata" pitchFamily="34" charset="0"/>
                <a:ea typeface="Prata" pitchFamily="34" charset="-122"/>
                <a:cs typeface="Prata" pitchFamily="34" charset="-120"/>
              </a:rPr>
              <a:t>Frontend SPA</a:t>
            </a:r>
            <a:endParaRPr lang="en-US" sz="1850" dirty="0"/>
          </a:p>
        </p:txBody>
      </p:sp>
      <p:sp>
        <p:nvSpPr>
          <p:cNvPr id="13" name="Text 9"/>
          <p:cNvSpPr/>
          <p:nvPr/>
        </p:nvSpPr>
        <p:spPr>
          <a:xfrm>
            <a:off x="8595646" y="4963224"/>
            <a:ext cx="2621494" cy="356765"/>
          </a:xfrm>
          <a:prstGeom prst="rect">
            <a:avLst/>
          </a:prstGeom>
          <a:noFill/>
          <a:ln/>
        </p:spPr>
        <p:txBody>
          <a:bodyPr wrap="square" lIns="0" tIns="0" rIns="0" bIns="0" rtlCol="0" anchor="t">
            <a:normAutofit/>
          </a:bodyPr>
          <a:lstStyle/>
          <a:p>
            <a:pPr algn="l" indent="0" marL="0">
              <a:lnSpc>
                <a:spcPct val="78000"/>
              </a:lnSpc>
              <a:buNone/>
            </a:pPr>
            <a:r>
              <a:rPr lang="en-US" sz="1450" dirty="0">
                <a:solidFill>
                  <a:srgbClr val="CFCBBF"/>
                </a:solidFill>
                <a:latin typeface="Raleway" pitchFamily="34" charset="0"/>
                <a:ea typeface="Raleway" pitchFamily="34" charset="-122"/>
                <a:cs typeface="Raleway" pitchFamily="34" charset="-120"/>
              </a:rPr>
              <a:t>React 18, Axios, Redux for UI and state</a:t>
            </a:r>
            <a:endParaRPr lang="en-US" sz="1450" dirty="0"/>
          </a:p>
        </p:txBody>
      </p:sp>
      <p:sp>
        <p:nvSpPr>
          <p:cNvPr id="14" name="Text 10"/>
          <p:cNvSpPr/>
          <p:nvPr/>
        </p:nvSpPr>
        <p:spPr>
          <a:xfrm>
            <a:off x="720012" y="6475611"/>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Core API Endpoints — Rooms &amp; Reservations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20012" y="6694190"/>
          <a:ext cx="9143771" cy="914400"/>
        </p:xfrm>
        <a:graphic>
          <a:graphicData uri="http://schemas.openxmlformats.org/drawingml/2006/table">
            <a:tbl>
              <a:tblPr/>
              <a:tblGrid>
                <a:gridCol w="787564"/>
                <a:gridCol w="1837649"/>
                <a:gridCol w="2625213"/>
              </a:tblGrid>
              <a:tr h="201012">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Method</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Endpoint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Description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/api/rooms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List all rooms with status and pricing</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/api/rooms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Create new room record (Admin only)</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PUT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/api/rooms/:id/status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Update room status (role-restricted)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/api/reservations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List reservations with filters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/api/reservations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Create new reservation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PUT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/api/reservations/:id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Modify reservation details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DELETE</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/api/reservations/:id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Cancel reservation with policy check</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/api/checkin/:id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Process guest check-in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1012">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/api/checkout/:id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Process guest check-out &amp; billing</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bl>
          </a:graphicData>
        </a:graphic>
      </p:graphicFrame>
      <p:sp>
        <p:nvSpPr>
          <p:cNvPr id="16" name="Text 11"/>
          <p:cNvSpPr/>
          <p:nvPr/>
        </p:nvSpPr>
        <p:spPr>
          <a:xfrm>
            <a:off x="6227607" y="6475611"/>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Core API Endpoints — Users, Billing &amp; Tasks</a:t>
            </a:r>
            <a:endParaRPr lang="en-US" sz="10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27607" y="6694190"/>
          <a:ext cx="9143771" cy="914400"/>
        </p:xfrm>
        <a:graphic>
          <a:graphicData uri="http://schemas.openxmlformats.org/drawingml/2006/table">
            <a:tbl>
              <a:tblPr/>
              <a:tblGrid>
                <a:gridCol w="787564"/>
                <a:gridCol w="1837649"/>
                <a:gridCol w="2625213"/>
              </a:tblGrid>
              <a:tr h="201012">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Method</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Endpoint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b="1" dirty="0">
                          <a:solidFill>
                            <a:srgbClr val="CFCBBF"/>
                          </a:solidFill>
                          <a:latin typeface="Raleway" pitchFamily="34" charset="0"/>
                          <a:ea typeface="Raleway" pitchFamily="34" charset="-122"/>
                          <a:cs typeface="Raleway" pitchFamily="34" charset="-120"/>
                        </a:rPr>
                        <a:t>Description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/api/auth/login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Authenticate user, return JWT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/api/auth/logout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Invalidate session token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/api/users/:id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Retrieve user profile</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/api/billing/:id/invoice</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Generate invoice for stay</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/api/billing/:id/payment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Process payment against invoice</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/api/billing/report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Revenue summary (Manager+)</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POST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/api/housekeeping/tasks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Create cleaning task assignment</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4187">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PUT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/api/maintenance/:id</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Update maintenance ticket status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01012">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GET</a:t>
                      </a:r>
                      <a:endParaRPr lang="en-US" sz="800" dirty="0">
                        <a:latin typeface="Raleway" charset="0"/>
                        <a:ea typeface="Raleway" charset="0"/>
                        <a:cs typeface="Raleway" charset="0"/>
                      </a:endParaRPr>
                    </a:p>
                  </a:txBody>
                  <a:tcPr marL="102867" marR="102867"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/api/dashboard/metrics</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00" dirty="0">
                          <a:solidFill>
                            <a:srgbClr val="CFCBBF"/>
                          </a:solidFill>
                          <a:latin typeface="Raleway" pitchFamily="34" charset="0"/>
                          <a:ea typeface="Raleway" pitchFamily="34" charset="-122"/>
                          <a:cs typeface="Raleway" pitchFamily="34" charset="-120"/>
                        </a:rPr>
                        <a:t>Occupancy, revenue KPIs (Admin)</a:t>
                      </a:r>
                      <a:endParaRPr lang="en-US" sz="800" dirty="0">
                        <a:latin typeface="Raleway" charset="0"/>
                        <a:ea typeface="Raleway" charset="0"/>
                        <a:cs typeface="Raleway" charset="0"/>
                      </a:endParaRPr>
                    </a:p>
                  </a:txBody>
                  <a:tcPr marL="102867" marR="102867"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bl>
          </a:graphicData>
        </a:graphic>
      </p:graphicFrame>
      <p:sp>
        <p:nvSpPr>
          <p:cNvPr id="18" name="Text 12"/>
          <p:cNvSpPr/>
          <p:nvPr/>
        </p:nvSpPr>
        <p:spPr>
          <a:xfrm>
            <a:off x="720012" y="8909546"/>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Database Schema — Key Collections</a:t>
            </a:r>
            <a:endParaRPr lang="en-US" sz="1000" dirty="0"/>
          </a:p>
        </p:txBody>
      </p:sp>
      <p:sp>
        <p:nvSpPr>
          <p:cNvPr id="19" name="Text 13"/>
          <p:cNvSpPr/>
          <p:nvPr/>
        </p:nvSpPr>
        <p:spPr>
          <a:xfrm>
            <a:off x="720012" y="9121676"/>
            <a:ext cx="5250426" cy="830362"/>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users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name, email, passwordHash, role, isActive, createdAt</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rooms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number, type, floor, status, basePrice, amenities[]</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guests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name, idDocument, contact, preferences, bookingHistory[]</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reservations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guestId, roomId, checkIn, checkOut, status, totalAmount</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invoices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reservationId, lineItems[], taxes, totalDue, paidAt</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tasks</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_id, roomId, type, assignedTo, priority, status, resolvedAt</a:t>
            </a:r>
            <a:endParaRPr lang="en-US" sz="800" dirty="0"/>
          </a:p>
        </p:txBody>
      </p:sp>
      <p:sp>
        <p:nvSpPr>
          <p:cNvPr id="20" name="Text 14"/>
          <p:cNvSpPr/>
          <p:nvPr/>
        </p:nvSpPr>
        <p:spPr>
          <a:xfrm>
            <a:off x="6227607" y="8909546"/>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F2E782"/>
                </a:solidFill>
                <a:latin typeface="Prata" pitchFamily="34" charset="0"/>
                <a:ea typeface="Prata" pitchFamily="34" charset="-122"/>
                <a:cs typeface="Prata" pitchFamily="34" charset="-120"/>
              </a:rPr>
              <a:t>Non-Functional Requirements</a:t>
            </a:r>
            <a:endParaRPr lang="en-US" sz="1000" dirty="0"/>
          </a:p>
        </p:txBody>
      </p:sp>
      <p:sp>
        <p:nvSpPr>
          <p:cNvPr id="21" name="Text 15"/>
          <p:cNvSpPr/>
          <p:nvPr/>
        </p:nvSpPr>
        <p:spPr>
          <a:xfrm>
            <a:off x="6227607" y="9121676"/>
            <a:ext cx="5250426" cy="688975"/>
          </a:xfrm>
          <a:prstGeom prst="rect">
            <a:avLst/>
          </a:prstGeom>
          <a:noFill/>
          <a:ln/>
        </p:spPr>
        <p:txBody>
          <a:bodyPr wrap="square" lIns="0" tIns="41147" rIns="0" bIns="0" rtlCol="0" anchor="t">
            <a:normAutofit/>
          </a:bodyPr>
          <a:lstStyle/>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Availability:</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99% uptime SLA with MongoDB Atlas replica set failover</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Performance:</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API response &lt;500ms at 95th percentile under normal load</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Scalability:</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Horizontal scaling via stateless Node.js instances behind load balancer</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Security:</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OWASP Top 10 mitigations, rate limiting (100 req/min per IP)</a:t>
            </a:r>
            <a:endParaRPr lang="en-US" sz="800" dirty="0"/>
          </a:p>
          <a:p>
            <a:pPr algn="l" marL="162560" indent="-162560">
              <a:lnSpc>
                <a:spcPct val="100000"/>
              </a:lnSpc>
              <a:buSzPct val="100000"/>
              <a:buChar char="•"/>
            </a:pPr>
            <a:r>
              <a:rPr lang="en-US" sz="800" b="1" dirty="0">
                <a:solidFill>
                  <a:srgbClr val="CFCBBF"/>
                </a:solidFill>
                <a:latin typeface="Raleway Bold" pitchFamily="34" charset="0"/>
                <a:ea typeface="Raleway Bold" pitchFamily="34" charset="-122"/>
                <a:cs typeface="Raleway Bold" pitchFamily="34" charset="-120"/>
              </a:rPr>
              <a:t>Compatibility:</a:t>
            </a:r>
            <a:pPr algn="l" marL="162560" indent="-162560">
              <a:lnSpc>
                <a:spcPct val="100000"/>
              </a:lnSpc>
              <a:buSzPct val="100000"/>
              <a:buChar char="•"/>
            </a:pPr>
            <a:r>
              <a:rPr lang="en-US" sz="800" dirty="0">
                <a:solidFill>
                  <a:srgbClr val="CFCBBF"/>
                </a:solidFill>
                <a:latin typeface="Raleway" pitchFamily="34" charset="0"/>
                <a:ea typeface="Raleway" pitchFamily="34" charset="-122"/>
                <a:cs typeface="Raleway" pitchFamily="34" charset="-120"/>
              </a:rPr>
              <a:t> Chrome, Firefox, Safari, Edge — last 2 major versions each</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20012" y="693043"/>
            <a:ext cx="1277409" cy="185539"/>
          </a:xfrm>
          <a:prstGeom prst="roundRect">
            <a:avLst>
              <a:gd name="adj" fmla="val 7901"/>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93234" y="736997"/>
            <a:ext cx="97629" cy="97631"/>
          </a:xfrm>
          <a:prstGeom prst="rect">
            <a:avLst/>
          </a:prstGeom>
        </p:spPr>
      </p:pic>
      <p:sp>
        <p:nvSpPr>
          <p:cNvPr id="4" name="Text 1"/>
          <p:cNvSpPr/>
          <p:nvPr/>
        </p:nvSpPr>
        <p:spPr>
          <a:xfrm>
            <a:off x="939677" y="729655"/>
            <a:ext cx="1594108" cy="112316"/>
          </a:xfrm>
          <a:prstGeom prst="rect">
            <a:avLst/>
          </a:prstGeom>
          <a:noFill/>
          <a:ln/>
        </p:spPr>
        <p:txBody>
          <a:bodyPr wrap="none" lIns="0" tIns="0" rIns="0" bIns="0" rtlCol="0" anchor="t"/>
          <a:lstStyle/>
          <a:p>
            <a:pPr algn="l" indent="0" marL="0">
              <a:lnSpc>
                <a:spcPct val="96000"/>
              </a:lnSpc>
              <a:buNone/>
            </a:pPr>
            <a:r>
              <a:rPr lang="en-US" sz="750" dirty="0">
                <a:solidFill>
                  <a:srgbClr val="CFCBBF"/>
                </a:solidFill>
                <a:latin typeface="Raleway" pitchFamily="34" charset="0"/>
                <a:ea typeface="Raleway" pitchFamily="34" charset="-122"/>
                <a:cs typeface="Raleway" pitchFamily="34" charset="-120"/>
              </a:rPr>
              <a:t>SECURITY &amp; TESTING</a:t>
            </a:r>
            <a:endParaRPr lang="en-US" sz="750" dirty="0"/>
          </a:p>
        </p:txBody>
      </p:sp>
      <p:sp>
        <p:nvSpPr>
          <p:cNvPr id="5" name="Text 2"/>
          <p:cNvSpPr/>
          <p:nvPr/>
        </p:nvSpPr>
        <p:spPr>
          <a:xfrm>
            <a:off x="720012" y="907554"/>
            <a:ext cx="10751670" cy="381695"/>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Security Implementation &amp; Testing Strategy</a:t>
            </a:r>
            <a:endParaRPr lang="en-US" sz="2400" dirty="0"/>
          </a:p>
        </p:txBody>
      </p:sp>
      <p:sp>
        <p:nvSpPr>
          <p:cNvPr id="6" name="Text 3"/>
          <p:cNvSpPr/>
          <p:nvPr/>
        </p:nvSpPr>
        <p:spPr>
          <a:xfrm>
            <a:off x="720012" y="1397992"/>
            <a:ext cx="10751670" cy="311348"/>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Security is enforced at every layer of the stack — from network ingress through authentication middleware to database query construction. The testing strategy validates both happy-path functionality and adversarial edge cases across unit, integration, and end-to-end test suites.</a:t>
            </a:r>
            <a:endParaRPr lang="en-US" sz="950" dirty="0"/>
          </a:p>
        </p:txBody>
      </p:sp>
      <p:sp>
        <p:nvSpPr>
          <p:cNvPr id="7" name="Shape 4"/>
          <p:cNvSpPr/>
          <p:nvPr/>
        </p:nvSpPr>
        <p:spPr>
          <a:xfrm>
            <a:off x="632008" y="1790898"/>
            <a:ext cx="5402822" cy="1552079"/>
          </a:xfrm>
          <a:prstGeom prst="roundRect">
            <a:avLst>
              <a:gd name="adj" fmla="val 1181"/>
            </a:avLst>
          </a:prstGeom>
          <a:solidFill>
            <a:srgbClr val="F4E883"/>
          </a:solidFill>
          <a:ln/>
        </p:spPr>
      </p:sp>
      <p:sp>
        <p:nvSpPr>
          <p:cNvPr id="8" name="Text 5"/>
          <p:cNvSpPr/>
          <p:nvPr/>
        </p:nvSpPr>
        <p:spPr>
          <a:xfrm>
            <a:off x="754143" y="1863427"/>
            <a:ext cx="5158551" cy="19079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rata" pitchFamily="34" charset="0"/>
                <a:ea typeface="Prata" pitchFamily="34" charset="-122"/>
                <a:cs typeface="Prata" pitchFamily="34" charset="-120"/>
              </a:rPr>
              <a:t>Authentication Security Stack</a:t>
            </a:r>
            <a:endParaRPr lang="en-US" sz="1200" dirty="0"/>
          </a:p>
        </p:txBody>
      </p:sp>
      <p:sp>
        <p:nvSpPr>
          <p:cNvPr id="9" name="Text 6"/>
          <p:cNvSpPr/>
          <p:nvPr/>
        </p:nvSpPr>
        <p:spPr>
          <a:xfrm>
            <a:off x="754143" y="2126754"/>
            <a:ext cx="5158551" cy="1035248"/>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JWT Access Tokens:</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15-minute expiry, HS256 signing, stored in memory (not localStorage)</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Refresh Tokens:</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7-day expiry, HTTP-only cookie, rotated on each use</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Password Policy:</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Minimum 10 chars, mixed case, digit, special character required</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Brute Force Protection:</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Lockout after 5 failed attempts, 15-minute cooldown</a:t>
            </a:r>
            <a:endParaRPr lang="en-US" sz="950" dirty="0"/>
          </a:p>
          <a:p>
            <a:pPr algn="l" marL="193040" indent="-193040">
              <a:lnSpc>
                <a:spcPct val="106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2FA Ready:</a:t>
            </a:r>
            <a:pPr algn="l" marL="193040" indent="-193040">
              <a:lnSpc>
                <a:spcPct val="106000"/>
              </a:lnSpc>
              <a:buSzPct val="100000"/>
              <a:buChar char="•"/>
            </a:pPr>
            <a:r>
              <a:rPr lang="en-US" sz="950" dirty="0">
                <a:solidFill>
                  <a:srgbClr val="000000"/>
                </a:solidFill>
                <a:latin typeface="Raleway" pitchFamily="34" charset="0"/>
                <a:ea typeface="Raleway" pitchFamily="34" charset="-122"/>
                <a:cs typeface="Raleway" pitchFamily="34" charset="-120"/>
              </a:rPr>
              <a:t> Architecture supports TOTP via authenticator app for admin roles</a:t>
            </a:r>
            <a:endParaRPr lang="en-US" sz="950" dirty="0"/>
          </a:p>
        </p:txBody>
      </p:sp>
      <p:sp>
        <p:nvSpPr>
          <p:cNvPr id="10" name="Text 7"/>
          <p:cNvSpPr/>
          <p:nvPr/>
        </p:nvSpPr>
        <p:spPr>
          <a:xfrm>
            <a:off x="6251220" y="1863427"/>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API &amp; Data Security</a:t>
            </a:r>
            <a:endParaRPr lang="en-US" sz="1200" dirty="0"/>
          </a:p>
        </p:txBody>
      </p:sp>
      <p:sp>
        <p:nvSpPr>
          <p:cNvPr id="11" name="Text 8"/>
          <p:cNvSpPr/>
          <p:nvPr/>
        </p:nvSpPr>
        <p:spPr>
          <a:xfrm>
            <a:off x="6251220" y="2126754"/>
            <a:ext cx="5226812" cy="1190923"/>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Input Validation:</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Joi schema validation on all request bodies before business logic</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SQL/NoSQL Injection:</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Mongoose ODM parameterized queries, no raw MongoDB operators from user input</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CORS Policy:</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Strict origin whitelist, no wildcard in production</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Rate Limiting:</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express-rate-limit middleware, 100 req/min per IP, 20 req/min on auth routes</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Helmet.js:</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Security headers (CSP, HSTS, X-Frame-Options, X-XSS-Protection)</a:t>
            </a:r>
            <a:endParaRPr lang="en-US" sz="950" dirty="0"/>
          </a:p>
        </p:txBody>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012" y="3424535"/>
            <a:ext cx="3535472" cy="1599109"/>
          </a:xfrm>
          <a:prstGeom prst="rect">
            <a:avLst/>
          </a:prstGeom>
        </p:spPr>
      </p:pic>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96172" y="3528814"/>
            <a:ext cx="183153" cy="183158"/>
          </a:xfrm>
          <a:prstGeom prst="rect">
            <a:avLst/>
          </a:prstGeom>
        </p:spPr>
      </p:pic>
      <p:sp>
        <p:nvSpPr>
          <p:cNvPr id="14" name="Text 9"/>
          <p:cNvSpPr/>
          <p:nvPr/>
        </p:nvSpPr>
        <p:spPr>
          <a:xfrm>
            <a:off x="854847" y="3876179"/>
            <a:ext cx="3265803"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Unit Testing</a:t>
            </a:r>
            <a:endParaRPr lang="en-US" sz="1200" dirty="0"/>
          </a:p>
        </p:txBody>
      </p:sp>
      <p:sp>
        <p:nvSpPr>
          <p:cNvPr id="15" name="Text 10"/>
          <p:cNvSpPr/>
          <p:nvPr/>
        </p:nvSpPr>
        <p:spPr>
          <a:xfrm>
            <a:off x="854847" y="4110434"/>
            <a:ext cx="3265803" cy="778371"/>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Jest test suites for all service-layer functions and utility helpers. Target: </a:t>
            </a:r>
            <a:pPr algn="l" indent="0" marL="0">
              <a:lnSpc>
                <a:spcPct val="106000"/>
              </a:lnSpc>
              <a:buNone/>
            </a:pPr>
            <a:r>
              <a:rPr lang="en-US" sz="950" b="1" dirty="0">
                <a:solidFill>
                  <a:srgbClr val="CFCBBF"/>
                </a:solidFill>
                <a:latin typeface="Raleway Bold" pitchFamily="34" charset="0"/>
                <a:ea typeface="Raleway Bold" pitchFamily="34" charset="-122"/>
                <a:cs typeface="Raleway Bold" pitchFamily="34" charset="-120"/>
              </a:rPr>
              <a:t>80%+ code coverage</a:t>
            </a:r>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 Mocked MongoDB via mongodb-memory-server for isolated data layer tests. Each API route handler tested independently from middleware chain.</a:t>
            </a:r>
            <a:endParaRPr lang="en-US" sz="95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28012" y="3424535"/>
            <a:ext cx="3535572" cy="1599109"/>
          </a:xfrm>
          <a:prstGeom prst="rect">
            <a:avLst/>
          </a:prstGeom>
        </p:spPr>
      </p:pic>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04172" y="3528814"/>
            <a:ext cx="183153" cy="183158"/>
          </a:xfrm>
          <a:prstGeom prst="rect">
            <a:avLst/>
          </a:prstGeom>
        </p:spPr>
      </p:pic>
      <p:sp>
        <p:nvSpPr>
          <p:cNvPr id="18" name="Text 11"/>
          <p:cNvSpPr/>
          <p:nvPr/>
        </p:nvSpPr>
        <p:spPr>
          <a:xfrm>
            <a:off x="4462847" y="3876179"/>
            <a:ext cx="3265902"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Integration Testing</a:t>
            </a:r>
            <a:endParaRPr lang="en-US" sz="1200" dirty="0"/>
          </a:p>
        </p:txBody>
      </p:sp>
      <p:sp>
        <p:nvSpPr>
          <p:cNvPr id="19" name="Text 12"/>
          <p:cNvSpPr/>
          <p:nvPr/>
        </p:nvSpPr>
        <p:spPr>
          <a:xfrm>
            <a:off x="4462847" y="4110434"/>
            <a:ext cx="3265902" cy="778371"/>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Supertest-based HTTP integration tests verifying complete request-response cycles including middleware execution, database writes, and response payload shape. Authentication flow, booking lifecycle, and billing calculation are primary integration test targets.</a:t>
            </a:r>
            <a:endParaRPr lang="en-US" sz="950" dirty="0"/>
          </a:p>
        </p:txBody>
      </p:sp>
      <p:pic>
        <p:nvPicPr>
          <p:cNvPr id="20"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36111" y="3424535"/>
            <a:ext cx="3535472" cy="1599109"/>
          </a:xfrm>
          <a:prstGeom prst="rect">
            <a:avLst/>
          </a:prstGeom>
        </p:spPr>
      </p:pic>
      <p:pic>
        <p:nvPicPr>
          <p:cNvPr id="21"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12270" y="3528814"/>
            <a:ext cx="183153" cy="183158"/>
          </a:xfrm>
          <a:prstGeom prst="rect">
            <a:avLst/>
          </a:prstGeom>
        </p:spPr>
      </p:pic>
      <p:sp>
        <p:nvSpPr>
          <p:cNvPr id="22" name="Text 13"/>
          <p:cNvSpPr/>
          <p:nvPr/>
        </p:nvSpPr>
        <p:spPr>
          <a:xfrm>
            <a:off x="8070946" y="3876179"/>
            <a:ext cx="3265803" cy="190798"/>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End-to-End Testing</a:t>
            </a:r>
            <a:endParaRPr lang="en-US" sz="1200" dirty="0"/>
          </a:p>
        </p:txBody>
      </p:sp>
      <p:sp>
        <p:nvSpPr>
          <p:cNvPr id="23" name="Text 14"/>
          <p:cNvSpPr/>
          <p:nvPr/>
        </p:nvSpPr>
        <p:spPr>
          <a:xfrm>
            <a:off x="8070946" y="4110434"/>
            <a:ext cx="3265803" cy="778371"/>
          </a:xfrm>
          <a:prstGeom prst="rect">
            <a:avLst/>
          </a:prstGeom>
          <a:noFill/>
          <a:ln/>
        </p:spPr>
        <p:txBody>
          <a:bodyPr wrap="square" lIns="0" tIns="0" rIns="0" bIns="0" rtlCol="0" anchor="t">
            <a:normAutofit/>
          </a:bodyPr>
          <a:lstStyle/>
          <a:p>
            <a:pPr algn="l" indent="0" marL="0">
              <a:lnSpc>
                <a:spcPct val="106000"/>
              </a:lnSpc>
              <a:buNone/>
            </a:pPr>
            <a:r>
              <a:rPr lang="en-US" sz="950" dirty="0">
                <a:solidFill>
                  <a:srgbClr val="CFCBBF"/>
                </a:solidFill>
                <a:latin typeface="Raleway" pitchFamily="34" charset="0"/>
                <a:ea typeface="Raleway" pitchFamily="34" charset="-122"/>
                <a:cs typeface="Raleway" pitchFamily="34" charset="-120"/>
              </a:rPr>
              <a:t>Cypress test suites simulating real user journeys: guest booking flow, staff check-in sequence, housekeeping task completion, and invoice generation. Tests run against a staging environment with seeded test data on every pull request merge.</a:t>
            </a:r>
            <a:endParaRPr lang="en-US" sz="950" dirty="0"/>
          </a:p>
        </p:txBody>
      </p:sp>
      <p:sp>
        <p:nvSpPr>
          <p:cNvPr id="24" name="Text 15"/>
          <p:cNvSpPr/>
          <p:nvPr/>
        </p:nvSpPr>
        <p:spPr>
          <a:xfrm>
            <a:off x="720012" y="5177730"/>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Deployment Architecture</a:t>
            </a:r>
            <a:endParaRPr lang="en-US" sz="1200" dirty="0"/>
          </a:p>
        </p:txBody>
      </p:sp>
      <p:sp>
        <p:nvSpPr>
          <p:cNvPr id="25" name="Text 16"/>
          <p:cNvSpPr/>
          <p:nvPr/>
        </p:nvSpPr>
        <p:spPr>
          <a:xfrm>
            <a:off x="720012" y="5441057"/>
            <a:ext cx="5226812"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Database:</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MongoDB Atlas M10 cluster (3-node replica set, automated backups)</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Backend:</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Node.js on AWS EC2 or Heroku Standard-2X dyno</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Frontend:</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React SPA deployed to Netlify or Vercel with CDN edge caching</a:t>
            </a:r>
            <a:endParaRPr lang="en-US" sz="950" dirty="0"/>
          </a:p>
          <a:p>
            <a:pPr algn="l" marL="193040" indent="-193040">
              <a:lnSpc>
                <a:spcPct val="106000"/>
              </a:lnSpc>
              <a:buSzPct val="100000"/>
              <a:buChar char="•"/>
            </a:pPr>
            <a:r>
              <a:rPr lang="en-US" sz="950" b="1" dirty="0">
                <a:solidFill>
                  <a:srgbClr val="CFCBBF"/>
                </a:solidFill>
                <a:latin typeface="Raleway Bold" pitchFamily="34" charset="0"/>
                <a:ea typeface="Raleway Bold" pitchFamily="34" charset="-122"/>
                <a:cs typeface="Raleway Bold" pitchFamily="34" charset="-120"/>
              </a:rPr>
              <a:t>CI/CD:</a:t>
            </a:r>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 GitHub Actions pipeline — lint → test → build → deploy on main branch push</a:t>
            </a:r>
            <a:endParaRPr lang="en-US" sz="950" dirty="0"/>
          </a:p>
        </p:txBody>
      </p:sp>
      <p:sp>
        <p:nvSpPr>
          <p:cNvPr id="26" name="Text 17"/>
          <p:cNvSpPr/>
          <p:nvPr/>
        </p:nvSpPr>
        <p:spPr>
          <a:xfrm>
            <a:off x="6251220" y="5177730"/>
            <a:ext cx="5226812" cy="190798"/>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Monitoring &amp; Observability</a:t>
            </a:r>
            <a:endParaRPr lang="en-US" sz="1200" dirty="0"/>
          </a:p>
        </p:txBody>
      </p:sp>
      <p:sp>
        <p:nvSpPr>
          <p:cNvPr id="27" name="Text 18"/>
          <p:cNvSpPr/>
          <p:nvPr/>
        </p:nvSpPr>
        <p:spPr>
          <a:xfrm>
            <a:off x="6251220" y="5441057"/>
            <a:ext cx="5226812" cy="698599"/>
          </a:xfrm>
          <a:prstGeom prst="rect">
            <a:avLst/>
          </a:prstGeom>
          <a:noFill/>
          <a:ln/>
        </p:spPr>
        <p:txBody>
          <a:bodyPr wrap="square" lIns="0" tIns="48862" rIns="0" bIns="0" rtlCol="0" anchor="t">
            <a:normAutofit/>
          </a:bodyPr>
          <a:lstStyle/>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Application error tracking via Sentry (frontend + backend)</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API performance monitoring via New Relic or Datadog APM</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MongoDB Atlas Performance Advisor for slow query alerts</a:t>
            </a:r>
            <a:endParaRPr lang="en-US" sz="950" dirty="0"/>
          </a:p>
          <a:p>
            <a:pPr algn="l" marL="193040" indent="-193040">
              <a:lnSpc>
                <a:spcPct val="106000"/>
              </a:lnSpc>
              <a:buSzPct val="100000"/>
              <a:buChar char="•"/>
            </a:pPr>
            <a:r>
              <a:rPr lang="en-US" sz="950" dirty="0">
                <a:solidFill>
                  <a:srgbClr val="CFCBBF"/>
                </a:solidFill>
                <a:latin typeface="Raleway" pitchFamily="34" charset="0"/>
                <a:ea typeface="Raleway" pitchFamily="34" charset="-122"/>
                <a:cs typeface="Raleway" pitchFamily="34" charset="-120"/>
              </a:rPr>
              <a:t>Uptime monitoring with PagerDuty alerting for P0 incidents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20012" y="580231"/>
            <a:ext cx="1521779" cy="170954"/>
          </a:xfrm>
          <a:prstGeom prst="roundRect">
            <a:avLst>
              <a:gd name="adj" fmla="val 7898"/>
            </a:avLst>
          </a:prstGeom>
          <a:solidFill>
            <a:srgbClr val="443D09"/>
          </a:solidFill>
          <a:ln/>
        </p:spPr>
      </p:sp>
      <p:pic>
        <p:nvPicPr>
          <p:cNvPr id="3" name="Image 0" descr="preencoded.png">    </p:cNvPr>
          <p:cNvPicPr>
            <a:picLocks noChangeAspect="1"/>
          </p:cNvPicPr>
          <p:nvPr/>
        </p:nvPicPr>
        <p:blipFill>
          <a:blip r:embed="rId1"/>
          <a:stretch>
            <a:fillRect/>
          </a:stretch>
        </p:blipFill>
        <p:spPr>
          <a:xfrm>
            <a:off x="787480" y="620713"/>
            <a:ext cx="89989" cy="89991"/>
          </a:xfrm>
          <a:prstGeom prst="rect">
            <a:avLst/>
          </a:prstGeom>
        </p:spPr>
      </p:pic>
      <p:sp>
        <p:nvSpPr>
          <p:cNvPr id="4" name="Text 1"/>
          <p:cNvSpPr/>
          <p:nvPr/>
        </p:nvSpPr>
        <p:spPr>
          <a:xfrm>
            <a:off x="922414" y="613966"/>
            <a:ext cx="1861496" cy="103485"/>
          </a:xfrm>
          <a:prstGeom prst="rect">
            <a:avLst/>
          </a:prstGeom>
          <a:noFill/>
          <a:ln/>
        </p:spPr>
        <p:txBody>
          <a:bodyPr wrap="none" lIns="0" tIns="0" rIns="0" bIns="0" rtlCol="0" anchor="t"/>
          <a:lstStyle/>
          <a:p>
            <a:pPr algn="l" indent="0" marL="0">
              <a:lnSpc>
                <a:spcPct val="96000"/>
              </a:lnSpc>
              <a:buNone/>
            </a:pPr>
            <a:r>
              <a:rPr lang="en-US" sz="700" dirty="0">
                <a:solidFill>
                  <a:srgbClr val="CFCBBF"/>
                </a:solidFill>
                <a:latin typeface="Raleway" pitchFamily="34" charset="0"/>
                <a:ea typeface="Raleway" pitchFamily="34" charset="-122"/>
                <a:cs typeface="Raleway" pitchFamily="34" charset="-120"/>
              </a:rPr>
              <a:t>IMPLEMENTATION ROADMAP</a:t>
            </a:r>
            <a:endParaRPr lang="en-US" sz="700" dirty="0"/>
          </a:p>
        </p:txBody>
      </p:sp>
      <p:sp>
        <p:nvSpPr>
          <p:cNvPr id="5" name="Text 2"/>
          <p:cNvSpPr/>
          <p:nvPr/>
        </p:nvSpPr>
        <p:spPr>
          <a:xfrm>
            <a:off x="720012" y="775791"/>
            <a:ext cx="10751670" cy="351532"/>
          </a:xfrm>
          <a:prstGeom prst="rect">
            <a:avLst/>
          </a:prstGeom>
          <a:noFill/>
          <a:ln/>
        </p:spPr>
        <p:txBody>
          <a:bodyPr wrap="none" lIns="0" tIns="0" rIns="0" bIns="0" rtlCol="0" anchor="t"/>
          <a:lstStyle/>
          <a:p>
            <a:pPr algn="l" indent="0" marL="0">
              <a:lnSpc>
                <a:spcPct val="104000"/>
              </a:lnSpc>
              <a:buNone/>
            </a:pPr>
            <a:r>
              <a:rPr lang="en-US" sz="2200" dirty="0">
                <a:solidFill>
                  <a:srgbClr val="F2E782"/>
                </a:solidFill>
                <a:latin typeface="Prata" pitchFamily="34" charset="0"/>
                <a:ea typeface="Prata" pitchFamily="34" charset="-122"/>
                <a:cs typeface="Prata" pitchFamily="34" charset="-120"/>
              </a:rPr>
              <a:t>Implementation Timeline &amp; Project Milestones</a:t>
            </a:r>
            <a:endParaRPr lang="en-US" sz="2200" dirty="0"/>
          </a:p>
        </p:txBody>
      </p:sp>
      <p:sp>
        <p:nvSpPr>
          <p:cNvPr id="6" name="Text 3"/>
          <p:cNvSpPr/>
          <p:nvPr/>
        </p:nvSpPr>
        <p:spPr>
          <a:xfrm>
            <a:off x="720012" y="1219597"/>
            <a:ext cx="10751670" cy="278408"/>
          </a:xfrm>
          <a:prstGeom prst="rect">
            <a:avLst/>
          </a:prstGeom>
          <a:noFill/>
          <a:ln/>
        </p:spPr>
        <p:txBody>
          <a:bodyPr wrap="square" lIns="0" tIns="0" rIns="0" bIns="0" rtlCol="0" anchor="t">
            <a:normAutofit/>
          </a:bodyPr>
          <a:lstStyle/>
          <a:p>
            <a:pPr algn="l" indent="0" marL="0">
              <a:lnSpc>
                <a:spcPct val="103000"/>
              </a:lnSpc>
              <a:buNone/>
            </a:pPr>
            <a:r>
              <a:rPr lang="en-US" sz="850" dirty="0">
                <a:solidFill>
                  <a:srgbClr val="CFCBBF"/>
                </a:solidFill>
                <a:latin typeface="Raleway" pitchFamily="34" charset="0"/>
                <a:ea typeface="Raleway" pitchFamily="34" charset="-122"/>
                <a:cs typeface="Raleway" pitchFamily="34" charset="-120"/>
              </a:rPr>
              <a:t>The 7-week implementation is structured into four sequential phases, each delivering a testable, demonstrable increment of functionality. Phase gates require passing test coverage thresholds before advancement, ensuring quality is built in — not bolted on at the end.</a:t>
            </a:r>
            <a:endParaRPr lang="en-US" sz="850" dirty="0"/>
          </a:p>
        </p:txBody>
      </p:sp>
      <p:sp>
        <p:nvSpPr>
          <p:cNvPr id="7" name="Shape 4"/>
          <p:cNvSpPr/>
          <p:nvPr/>
        </p:nvSpPr>
        <p:spPr>
          <a:xfrm>
            <a:off x="720012" y="2647553"/>
            <a:ext cx="10751670" cy="12700"/>
          </a:xfrm>
          <a:prstGeom prst="roundRect">
            <a:avLst>
              <a:gd name="adj" fmla="val 49999"/>
            </a:avLst>
          </a:prstGeom>
          <a:solidFill>
            <a:srgbClr val="535455"/>
          </a:solidFill>
          <a:ln/>
        </p:spPr>
      </p:sp>
      <p:sp>
        <p:nvSpPr>
          <p:cNvPr id="8" name="Shape 5"/>
          <p:cNvSpPr/>
          <p:nvPr/>
        </p:nvSpPr>
        <p:spPr>
          <a:xfrm>
            <a:off x="2840760" y="2310061"/>
            <a:ext cx="12700" cy="337542"/>
          </a:xfrm>
          <a:prstGeom prst="roundRect">
            <a:avLst>
              <a:gd name="adj" fmla="val 49999"/>
            </a:avLst>
          </a:prstGeom>
          <a:solidFill>
            <a:srgbClr val="535455"/>
          </a:solidFill>
          <a:ln/>
        </p:spPr>
      </p:sp>
      <p:sp>
        <p:nvSpPr>
          <p:cNvPr id="9" name="Shape 6"/>
          <p:cNvSpPr/>
          <p:nvPr/>
        </p:nvSpPr>
        <p:spPr>
          <a:xfrm>
            <a:off x="2720609" y="2521000"/>
            <a:ext cx="253101" cy="253107"/>
          </a:xfrm>
          <a:prstGeom prst="roundRect">
            <a:avLst>
              <a:gd name="adj" fmla="val 6668"/>
            </a:avLst>
          </a:prstGeom>
          <a:solidFill>
            <a:srgbClr val="3A3B3C"/>
          </a:solidFill>
          <a:ln/>
        </p:spPr>
      </p:sp>
      <p:sp>
        <p:nvSpPr>
          <p:cNvPr id="10" name="Text 7"/>
          <p:cNvSpPr/>
          <p:nvPr/>
        </p:nvSpPr>
        <p:spPr>
          <a:xfrm>
            <a:off x="2762727" y="2542034"/>
            <a:ext cx="168767" cy="210939"/>
          </a:xfrm>
          <a:prstGeom prst="rect">
            <a:avLst/>
          </a:prstGeom>
          <a:noFill/>
          <a:ln/>
        </p:spPr>
        <p:txBody>
          <a:bodyPr wrap="none" lIns="0" tIns="0" rIns="0" bIns="0" rtlCol="0" anchor="ctr"/>
          <a:lstStyle/>
          <a:p>
            <a:pPr algn="ctr" indent="0" marL="0">
              <a:lnSpc>
                <a:spcPct val="100000"/>
              </a:lnSpc>
              <a:buNone/>
            </a:pPr>
            <a:r>
              <a:rPr lang="en-US" sz="1300" dirty="0">
                <a:solidFill>
                  <a:srgbClr val="CFCBBF"/>
                </a:solidFill>
                <a:latin typeface="Prata" pitchFamily="34" charset="0"/>
                <a:ea typeface="Prata" pitchFamily="34" charset="-122"/>
                <a:cs typeface="Prata" pitchFamily="34" charset="-120"/>
              </a:rPr>
              <a:t>1</a:t>
            </a:r>
            <a:endParaRPr lang="en-US" sz="1300" dirty="0"/>
          </a:p>
        </p:txBody>
      </p:sp>
      <p:sp>
        <p:nvSpPr>
          <p:cNvPr id="11" name="Text 8"/>
          <p:cNvSpPr/>
          <p:nvPr/>
        </p:nvSpPr>
        <p:spPr>
          <a:xfrm>
            <a:off x="832524" y="1567160"/>
            <a:ext cx="4029470" cy="175816"/>
          </a:xfrm>
          <a:prstGeom prst="rect">
            <a:avLst/>
          </a:prstGeom>
          <a:noFill/>
          <a:ln/>
        </p:spPr>
        <p:txBody>
          <a:bodyPr wrap="none" lIns="0" tIns="0" rIns="0" bIns="0" rtlCol="0" anchor="t"/>
          <a:lstStyle/>
          <a:p>
            <a:pPr algn="ctr" indent="0" marL="0">
              <a:lnSpc>
                <a:spcPct val="104000"/>
              </a:lnSpc>
              <a:buNone/>
            </a:pPr>
            <a:r>
              <a:rPr lang="en-US" sz="1100" dirty="0">
                <a:solidFill>
                  <a:srgbClr val="CFCBBF"/>
                </a:solidFill>
                <a:latin typeface="Prata" pitchFamily="34" charset="0"/>
                <a:ea typeface="Prata" pitchFamily="34" charset="-122"/>
                <a:cs typeface="Prata" pitchFamily="34" charset="-120"/>
              </a:rPr>
              <a:t>Phase 1 — Weeks 1–2</a:t>
            </a:r>
            <a:endParaRPr lang="en-US" sz="1100" dirty="0"/>
          </a:p>
        </p:txBody>
      </p:sp>
      <p:sp>
        <p:nvSpPr>
          <p:cNvPr id="12" name="Text 9"/>
          <p:cNvSpPr/>
          <p:nvPr/>
        </p:nvSpPr>
        <p:spPr>
          <a:xfrm>
            <a:off x="832524" y="1779885"/>
            <a:ext cx="4029470" cy="278408"/>
          </a:xfrm>
          <a:prstGeom prst="rect">
            <a:avLst/>
          </a:prstGeom>
          <a:noFill/>
          <a:ln/>
        </p:spPr>
        <p:txBody>
          <a:bodyPr wrap="square" lIns="0" tIns="0" rIns="0" bIns="0" rtlCol="0" anchor="t">
            <a:normAutofit/>
          </a:bodyPr>
          <a:lstStyle/>
          <a:p>
            <a:pPr algn="ctr" indent="0" marL="0">
              <a:lnSpc>
                <a:spcPct val="103000"/>
              </a:lnSpc>
              <a:buNone/>
            </a:pPr>
            <a:r>
              <a:rPr lang="en-US" sz="850" b="1" dirty="0">
                <a:solidFill>
                  <a:srgbClr val="CFCBBF"/>
                </a:solidFill>
                <a:latin typeface="Raleway Bold" pitchFamily="34" charset="0"/>
                <a:ea typeface="Raleway Bold" pitchFamily="34" charset="-122"/>
                <a:cs typeface="Raleway Bold" pitchFamily="34" charset="-120"/>
              </a:rPr>
              <a:t>Foundation:</a:t>
            </a:r>
            <a:pPr algn="ctr" indent="0" marL="0">
              <a:lnSpc>
                <a:spcPct val="103000"/>
              </a:lnSpc>
              <a:buNone/>
            </a:pPr>
            <a:r>
              <a:rPr lang="en-US" sz="850" dirty="0">
                <a:solidFill>
                  <a:srgbClr val="CFCBBF"/>
                </a:solidFill>
                <a:latin typeface="Raleway" pitchFamily="34" charset="0"/>
                <a:ea typeface="Raleway" pitchFamily="34" charset="-122"/>
                <a:cs typeface="Raleway" pitchFamily="34" charset="-120"/>
              </a:rPr>
              <a:t> Project scaffolding, MongoDB schema design, JWT authentication, user management API, and admin dashboard UI skeleton.</a:t>
            </a:r>
            <a:endParaRPr lang="en-US" sz="850" dirty="0"/>
          </a:p>
        </p:txBody>
      </p:sp>
      <p:sp>
        <p:nvSpPr>
          <p:cNvPr id="13" name="Shape 10"/>
          <p:cNvSpPr/>
          <p:nvPr/>
        </p:nvSpPr>
        <p:spPr>
          <a:xfrm>
            <a:off x="5006453" y="2647504"/>
            <a:ext cx="12700" cy="337542"/>
          </a:xfrm>
          <a:prstGeom prst="roundRect">
            <a:avLst>
              <a:gd name="adj" fmla="val 49999"/>
            </a:avLst>
          </a:prstGeom>
          <a:solidFill>
            <a:srgbClr val="535455"/>
          </a:solidFill>
          <a:ln/>
        </p:spPr>
      </p:sp>
      <p:sp>
        <p:nvSpPr>
          <p:cNvPr id="14" name="Shape 11"/>
          <p:cNvSpPr/>
          <p:nvPr/>
        </p:nvSpPr>
        <p:spPr>
          <a:xfrm>
            <a:off x="4886302" y="2521000"/>
            <a:ext cx="253101" cy="253107"/>
          </a:xfrm>
          <a:prstGeom prst="roundRect">
            <a:avLst>
              <a:gd name="adj" fmla="val 6668"/>
            </a:avLst>
          </a:prstGeom>
          <a:solidFill>
            <a:srgbClr val="3A3B3C"/>
          </a:solidFill>
          <a:ln/>
        </p:spPr>
      </p:sp>
      <p:sp>
        <p:nvSpPr>
          <p:cNvPr id="15" name="Text 12"/>
          <p:cNvSpPr/>
          <p:nvPr/>
        </p:nvSpPr>
        <p:spPr>
          <a:xfrm>
            <a:off x="4928419" y="2542034"/>
            <a:ext cx="168767" cy="210939"/>
          </a:xfrm>
          <a:prstGeom prst="rect">
            <a:avLst/>
          </a:prstGeom>
          <a:noFill/>
          <a:ln/>
        </p:spPr>
        <p:txBody>
          <a:bodyPr wrap="none" lIns="0" tIns="0" rIns="0" bIns="0" rtlCol="0" anchor="ctr"/>
          <a:lstStyle/>
          <a:p>
            <a:pPr algn="ctr" indent="0" marL="0">
              <a:lnSpc>
                <a:spcPct val="100000"/>
              </a:lnSpc>
              <a:buNone/>
            </a:pPr>
            <a:r>
              <a:rPr lang="en-US" sz="1300" dirty="0">
                <a:solidFill>
                  <a:srgbClr val="CFCBBF"/>
                </a:solidFill>
                <a:latin typeface="Prata" pitchFamily="34" charset="0"/>
                <a:ea typeface="Prata" pitchFamily="34" charset="-122"/>
                <a:cs typeface="Prata" pitchFamily="34" charset="-120"/>
              </a:rPr>
              <a:t>2</a:t>
            </a:r>
            <a:endParaRPr lang="en-US" sz="1300" dirty="0"/>
          </a:p>
        </p:txBody>
      </p:sp>
      <p:sp>
        <p:nvSpPr>
          <p:cNvPr id="16" name="Text 13"/>
          <p:cNvSpPr/>
          <p:nvPr/>
        </p:nvSpPr>
        <p:spPr>
          <a:xfrm>
            <a:off x="2998216" y="3097609"/>
            <a:ext cx="4029470" cy="175816"/>
          </a:xfrm>
          <a:prstGeom prst="rect">
            <a:avLst/>
          </a:prstGeom>
          <a:noFill/>
          <a:ln/>
        </p:spPr>
        <p:txBody>
          <a:bodyPr wrap="none" lIns="0" tIns="0" rIns="0" bIns="0" rtlCol="0" anchor="t"/>
          <a:lstStyle/>
          <a:p>
            <a:pPr algn="ctr" indent="0" marL="0">
              <a:lnSpc>
                <a:spcPct val="104000"/>
              </a:lnSpc>
              <a:buNone/>
            </a:pPr>
            <a:r>
              <a:rPr lang="en-US" sz="1100" dirty="0">
                <a:solidFill>
                  <a:srgbClr val="CFCBBF"/>
                </a:solidFill>
                <a:latin typeface="Prata" pitchFamily="34" charset="0"/>
                <a:ea typeface="Prata" pitchFamily="34" charset="-122"/>
                <a:cs typeface="Prata" pitchFamily="34" charset="-120"/>
              </a:rPr>
              <a:t>Phase 2 — Weeks 3–4</a:t>
            </a:r>
            <a:endParaRPr lang="en-US" sz="1100" dirty="0"/>
          </a:p>
        </p:txBody>
      </p:sp>
      <p:sp>
        <p:nvSpPr>
          <p:cNvPr id="17" name="Text 14"/>
          <p:cNvSpPr/>
          <p:nvPr/>
        </p:nvSpPr>
        <p:spPr>
          <a:xfrm>
            <a:off x="2998216" y="3310334"/>
            <a:ext cx="4029470" cy="278408"/>
          </a:xfrm>
          <a:prstGeom prst="rect">
            <a:avLst/>
          </a:prstGeom>
          <a:noFill/>
          <a:ln/>
        </p:spPr>
        <p:txBody>
          <a:bodyPr wrap="square" lIns="0" tIns="0" rIns="0" bIns="0" rtlCol="0" anchor="t">
            <a:normAutofit/>
          </a:bodyPr>
          <a:lstStyle/>
          <a:p>
            <a:pPr algn="ctr" indent="0" marL="0">
              <a:lnSpc>
                <a:spcPct val="103000"/>
              </a:lnSpc>
              <a:buNone/>
            </a:pPr>
            <a:r>
              <a:rPr lang="en-US" sz="850" b="1" dirty="0">
                <a:solidFill>
                  <a:srgbClr val="CFCBBF"/>
                </a:solidFill>
                <a:latin typeface="Raleway Bold" pitchFamily="34" charset="0"/>
                <a:ea typeface="Raleway Bold" pitchFamily="34" charset="-122"/>
                <a:cs typeface="Raleway Bold" pitchFamily="34" charset="-120"/>
              </a:rPr>
              <a:t>Core Operations:</a:t>
            </a:r>
            <a:pPr algn="ctr" indent="0" marL="0">
              <a:lnSpc>
                <a:spcPct val="103000"/>
              </a:lnSpc>
              <a:buNone/>
            </a:pPr>
            <a:r>
              <a:rPr lang="en-US" sz="850" dirty="0">
                <a:solidFill>
                  <a:srgbClr val="CFCBBF"/>
                </a:solidFill>
                <a:latin typeface="Raleway" pitchFamily="34" charset="0"/>
                <a:ea typeface="Raleway" pitchFamily="34" charset="-122"/>
                <a:cs typeface="Raleway" pitchFamily="34" charset="-120"/>
              </a:rPr>
              <a:t> Room inventory module, reservation engine, availability search, check-in/check-out workflows, and real-time status updates.</a:t>
            </a:r>
            <a:endParaRPr lang="en-US" sz="850" dirty="0"/>
          </a:p>
        </p:txBody>
      </p:sp>
      <p:sp>
        <p:nvSpPr>
          <p:cNvPr id="18" name="Shape 15"/>
          <p:cNvSpPr/>
          <p:nvPr/>
        </p:nvSpPr>
        <p:spPr>
          <a:xfrm>
            <a:off x="7172146" y="2310061"/>
            <a:ext cx="12700" cy="337542"/>
          </a:xfrm>
          <a:prstGeom prst="roundRect">
            <a:avLst>
              <a:gd name="adj" fmla="val 49999"/>
            </a:avLst>
          </a:prstGeom>
          <a:solidFill>
            <a:srgbClr val="535455"/>
          </a:solidFill>
          <a:ln/>
        </p:spPr>
      </p:sp>
      <p:sp>
        <p:nvSpPr>
          <p:cNvPr id="19" name="Shape 16"/>
          <p:cNvSpPr/>
          <p:nvPr/>
        </p:nvSpPr>
        <p:spPr>
          <a:xfrm>
            <a:off x="7051995" y="2521000"/>
            <a:ext cx="253101" cy="253107"/>
          </a:xfrm>
          <a:prstGeom prst="roundRect">
            <a:avLst>
              <a:gd name="adj" fmla="val 6668"/>
            </a:avLst>
          </a:prstGeom>
          <a:solidFill>
            <a:srgbClr val="3A3B3C"/>
          </a:solidFill>
          <a:ln/>
        </p:spPr>
      </p:sp>
      <p:sp>
        <p:nvSpPr>
          <p:cNvPr id="20" name="Text 17"/>
          <p:cNvSpPr/>
          <p:nvPr/>
        </p:nvSpPr>
        <p:spPr>
          <a:xfrm>
            <a:off x="7094112" y="2542034"/>
            <a:ext cx="168767" cy="210939"/>
          </a:xfrm>
          <a:prstGeom prst="rect">
            <a:avLst/>
          </a:prstGeom>
          <a:noFill/>
          <a:ln/>
        </p:spPr>
        <p:txBody>
          <a:bodyPr wrap="none" lIns="0" tIns="0" rIns="0" bIns="0" rtlCol="0" anchor="ctr"/>
          <a:lstStyle/>
          <a:p>
            <a:pPr algn="ctr" indent="0" marL="0">
              <a:lnSpc>
                <a:spcPct val="100000"/>
              </a:lnSpc>
              <a:buNone/>
            </a:pPr>
            <a:r>
              <a:rPr lang="en-US" sz="1300" dirty="0">
                <a:solidFill>
                  <a:srgbClr val="CFCBBF"/>
                </a:solidFill>
                <a:latin typeface="Prata" pitchFamily="34" charset="0"/>
                <a:ea typeface="Prata" pitchFamily="34" charset="-122"/>
                <a:cs typeface="Prata" pitchFamily="34" charset="-120"/>
              </a:rPr>
              <a:t>3</a:t>
            </a:r>
            <a:endParaRPr lang="en-US" sz="1300" dirty="0"/>
          </a:p>
        </p:txBody>
      </p:sp>
      <p:sp>
        <p:nvSpPr>
          <p:cNvPr id="21" name="Text 18"/>
          <p:cNvSpPr/>
          <p:nvPr/>
        </p:nvSpPr>
        <p:spPr>
          <a:xfrm>
            <a:off x="5163909" y="1567160"/>
            <a:ext cx="4029470" cy="175816"/>
          </a:xfrm>
          <a:prstGeom prst="rect">
            <a:avLst/>
          </a:prstGeom>
          <a:noFill/>
          <a:ln/>
        </p:spPr>
        <p:txBody>
          <a:bodyPr wrap="none" lIns="0" tIns="0" rIns="0" bIns="0" rtlCol="0" anchor="t"/>
          <a:lstStyle/>
          <a:p>
            <a:pPr algn="ctr" indent="0" marL="0">
              <a:lnSpc>
                <a:spcPct val="104000"/>
              </a:lnSpc>
              <a:buNone/>
            </a:pPr>
            <a:r>
              <a:rPr lang="en-US" sz="1100" dirty="0">
                <a:solidFill>
                  <a:srgbClr val="CFCBBF"/>
                </a:solidFill>
                <a:latin typeface="Prata" pitchFamily="34" charset="0"/>
                <a:ea typeface="Prata" pitchFamily="34" charset="-122"/>
                <a:cs typeface="Prata" pitchFamily="34" charset="-120"/>
              </a:rPr>
              <a:t>Phase 3 — Week 5–6</a:t>
            </a:r>
            <a:endParaRPr lang="en-US" sz="1100" dirty="0"/>
          </a:p>
        </p:txBody>
      </p:sp>
      <p:sp>
        <p:nvSpPr>
          <p:cNvPr id="22" name="Text 19"/>
          <p:cNvSpPr/>
          <p:nvPr/>
        </p:nvSpPr>
        <p:spPr>
          <a:xfrm>
            <a:off x="5163909" y="1779885"/>
            <a:ext cx="4029470" cy="417612"/>
          </a:xfrm>
          <a:prstGeom prst="rect">
            <a:avLst/>
          </a:prstGeom>
          <a:noFill/>
          <a:ln/>
        </p:spPr>
        <p:txBody>
          <a:bodyPr wrap="square" lIns="0" tIns="0" rIns="0" bIns="0" rtlCol="0" anchor="t">
            <a:normAutofit/>
          </a:bodyPr>
          <a:lstStyle/>
          <a:p>
            <a:pPr algn="ctr" indent="0" marL="0">
              <a:lnSpc>
                <a:spcPct val="103000"/>
              </a:lnSpc>
              <a:buNone/>
            </a:pPr>
            <a:r>
              <a:rPr lang="en-US" sz="850" b="1" dirty="0">
                <a:solidFill>
                  <a:srgbClr val="CFCBBF"/>
                </a:solidFill>
                <a:latin typeface="Raleway Bold" pitchFamily="34" charset="0"/>
                <a:ea typeface="Raleway Bold" pitchFamily="34" charset="-122"/>
                <a:cs typeface="Raleway Bold" pitchFamily="34" charset="-120"/>
              </a:rPr>
              <a:t>Financials &amp; Tasks:</a:t>
            </a:r>
            <a:pPr algn="ctr" indent="0" marL="0">
              <a:lnSpc>
                <a:spcPct val="103000"/>
              </a:lnSpc>
              <a:buNone/>
            </a:pPr>
            <a:r>
              <a:rPr lang="en-US" sz="850" dirty="0">
                <a:solidFill>
                  <a:srgbClr val="CFCBBF"/>
                </a:solidFill>
                <a:latin typeface="Raleway" pitchFamily="34" charset="0"/>
                <a:ea typeface="Raleway" pitchFamily="34" charset="-122"/>
                <a:cs typeface="Raleway" pitchFamily="34" charset="-120"/>
              </a:rPr>
              <a:t> Billing calculation engine, invoice PDF generation, payment processing integration, housekeeping task system, and maintenance ticket module.</a:t>
            </a:r>
            <a:endParaRPr lang="en-US" sz="850" dirty="0"/>
          </a:p>
        </p:txBody>
      </p:sp>
      <p:sp>
        <p:nvSpPr>
          <p:cNvPr id="23" name="Shape 20"/>
          <p:cNvSpPr/>
          <p:nvPr/>
        </p:nvSpPr>
        <p:spPr>
          <a:xfrm>
            <a:off x="9337838" y="2647504"/>
            <a:ext cx="12700" cy="337542"/>
          </a:xfrm>
          <a:prstGeom prst="roundRect">
            <a:avLst>
              <a:gd name="adj" fmla="val 49999"/>
            </a:avLst>
          </a:prstGeom>
          <a:solidFill>
            <a:srgbClr val="535455"/>
          </a:solidFill>
          <a:ln/>
        </p:spPr>
      </p:sp>
      <p:sp>
        <p:nvSpPr>
          <p:cNvPr id="24" name="Shape 21"/>
          <p:cNvSpPr/>
          <p:nvPr/>
        </p:nvSpPr>
        <p:spPr>
          <a:xfrm>
            <a:off x="9217687" y="2521000"/>
            <a:ext cx="253101" cy="253107"/>
          </a:xfrm>
          <a:prstGeom prst="roundRect">
            <a:avLst>
              <a:gd name="adj" fmla="val 6668"/>
            </a:avLst>
          </a:prstGeom>
          <a:solidFill>
            <a:srgbClr val="3A3B3C"/>
          </a:solidFill>
          <a:ln/>
        </p:spPr>
      </p:sp>
      <p:sp>
        <p:nvSpPr>
          <p:cNvPr id="25" name="Text 22"/>
          <p:cNvSpPr/>
          <p:nvPr/>
        </p:nvSpPr>
        <p:spPr>
          <a:xfrm>
            <a:off x="9259805" y="2542034"/>
            <a:ext cx="168767" cy="210939"/>
          </a:xfrm>
          <a:prstGeom prst="rect">
            <a:avLst/>
          </a:prstGeom>
          <a:noFill/>
          <a:ln/>
        </p:spPr>
        <p:txBody>
          <a:bodyPr wrap="none" lIns="0" tIns="0" rIns="0" bIns="0" rtlCol="0" anchor="ctr"/>
          <a:lstStyle/>
          <a:p>
            <a:pPr algn="ctr" indent="0" marL="0">
              <a:lnSpc>
                <a:spcPct val="100000"/>
              </a:lnSpc>
              <a:buNone/>
            </a:pPr>
            <a:r>
              <a:rPr lang="en-US" sz="1300" dirty="0">
                <a:solidFill>
                  <a:srgbClr val="CFCBBF"/>
                </a:solidFill>
                <a:latin typeface="Prata" pitchFamily="34" charset="0"/>
                <a:ea typeface="Prata" pitchFamily="34" charset="-122"/>
                <a:cs typeface="Prata" pitchFamily="34" charset="-120"/>
              </a:rPr>
              <a:t>4</a:t>
            </a:r>
            <a:endParaRPr lang="en-US" sz="1300" dirty="0"/>
          </a:p>
        </p:txBody>
      </p:sp>
      <p:sp>
        <p:nvSpPr>
          <p:cNvPr id="26" name="Text 23"/>
          <p:cNvSpPr/>
          <p:nvPr/>
        </p:nvSpPr>
        <p:spPr>
          <a:xfrm>
            <a:off x="7329602" y="3097609"/>
            <a:ext cx="4029470" cy="175816"/>
          </a:xfrm>
          <a:prstGeom prst="rect">
            <a:avLst/>
          </a:prstGeom>
          <a:noFill/>
          <a:ln/>
        </p:spPr>
        <p:txBody>
          <a:bodyPr wrap="none" lIns="0" tIns="0" rIns="0" bIns="0" rtlCol="0" anchor="t"/>
          <a:lstStyle/>
          <a:p>
            <a:pPr algn="ctr" indent="0" marL="0">
              <a:lnSpc>
                <a:spcPct val="104000"/>
              </a:lnSpc>
              <a:buNone/>
            </a:pPr>
            <a:r>
              <a:rPr lang="en-US" sz="1100" dirty="0">
                <a:solidFill>
                  <a:srgbClr val="CFCBBF"/>
                </a:solidFill>
                <a:latin typeface="Prata" pitchFamily="34" charset="0"/>
                <a:ea typeface="Prata" pitchFamily="34" charset="-122"/>
                <a:cs typeface="Prata" pitchFamily="34" charset="-120"/>
              </a:rPr>
              <a:t>Phase 4 — Week 7</a:t>
            </a:r>
            <a:endParaRPr lang="en-US" sz="1100" dirty="0"/>
          </a:p>
        </p:txBody>
      </p:sp>
      <p:sp>
        <p:nvSpPr>
          <p:cNvPr id="27" name="Text 24"/>
          <p:cNvSpPr/>
          <p:nvPr/>
        </p:nvSpPr>
        <p:spPr>
          <a:xfrm>
            <a:off x="7329602" y="3310334"/>
            <a:ext cx="4029470" cy="417612"/>
          </a:xfrm>
          <a:prstGeom prst="rect">
            <a:avLst/>
          </a:prstGeom>
          <a:noFill/>
          <a:ln/>
        </p:spPr>
        <p:txBody>
          <a:bodyPr wrap="square" lIns="0" tIns="0" rIns="0" bIns="0" rtlCol="0" anchor="t">
            <a:normAutofit/>
          </a:bodyPr>
          <a:lstStyle/>
          <a:p>
            <a:pPr algn="ctr" indent="0" marL="0">
              <a:lnSpc>
                <a:spcPct val="103000"/>
              </a:lnSpc>
              <a:buNone/>
            </a:pPr>
            <a:r>
              <a:rPr lang="en-US" sz="850" b="1" dirty="0">
                <a:solidFill>
                  <a:srgbClr val="CFCBBF"/>
                </a:solidFill>
                <a:latin typeface="Raleway Bold" pitchFamily="34" charset="0"/>
                <a:ea typeface="Raleway Bold" pitchFamily="34" charset="-122"/>
                <a:cs typeface="Raleway Bold" pitchFamily="34" charset="-120"/>
              </a:rPr>
              <a:t>QA &amp; Deployment:</a:t>
            </a:r>
            <a:pPr algn="ctr" indent="0" marL="0">
              <a:lnSpc>
                <a:spcPct val="103000"/>
              </a:lnSpc>
              <a:buNone/>
            </a:pPr>
            <a:r>
              <a:rPr lang="en-US" sz="850" dirty="0">
                <a:solidFill>
                  <a:srgbClr val="CFCBBF"/>
                </a:solidFill>
                <a:latin typeface="Raleway" pitchFamily="34" charset="0"/>
                <a:ea typeface="Raleway" pitchFamily="34" charset="-122"/>
                <a:cs typeface="Raleway" pitchFamily="34" charset="-120"/>
              </a:rPr>
              <a:t> End-to-end testing, security audit, performance optimisation, CI/CD pipeline configuration, production deployment, and documentation finalisation.</a:t>
            </a:r>
            <a:endParaRPr lang="en-US" sz="850" dirty="0"/>
          </a:p>
        </p:txBody>
      </p:sp>
      <p:sp>
        <p:nvSpPr>
          <p:cNvPr id="28" name="Text 25"/>
          <p:cNvSpPr/>
          <p:nvPr/>
        </p:nvSpPr>
        <p:spPr>
          <a:xfrm>
            <a:off x="720012" y="3858617"/>
            <a:ext cx="5238619" cy="175816"/>
          </a:xfrm>
          <a:prstGeom prst="rect">
            <a:avLst/>
          </a:prstGeom>
          <a:noFill/>
          <a:ln/>
        </p:spPr>
        <p:txBody>
          <a:bodyPr wrap="none" lIns="0" tIns="0" rIns="0" bIns="0" rtlCol="0" anchor="t"/>
          <a:lstStyle/>
          <a:p>
            <a:pPr algn="l" indent="0" marL="0">
              <a:lnSpc>
                <a:spcPct val="104000"/>
              </a:lnSpc>
              <a:buNone/>
            </a:pPr>
            <a:r>
              <a:rPr lang="en-US" sz="1100" dirty="0">
                <a:solidFill>
                  <a:srgbClr val="F2E782"/>
                </a:solidFill>
                <a:latin typeface="Prata" pitchFamily="34" charset="0"/>
                <a:ea typeface="Prata" pitchFamily="34" charset="-122"/>
                <a:cs typeface="Prata" pitchFamily="34" charset="-120"/>
              </a:rPr>
              <a:t>Phase Gate Criteria</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20012" y="4103588"/>
          <a:ext cx="9143771" cy="914400"/>
        </p:xfrm>
        <a:graphic>
          <a:graphicData uri="http://schemas.openxmlformats.org/drawingml/2006/table">
            <a:tbl>
              <a:tblPr/>
              <a:tblGrid>
                <a:gridCol w="1309655"/>
                <a:gridCol w="2357379"/>
                <a:gridCol w="1571586"/>
              </a:tblGrid>
              <a:tr h="228892">
                <a:tc>
                  <a:txBody>
                    <a:bodyPr/>
                    <a:lstStyle/>
                    <a:p>
                      <a:pPr indent="0" marL="0">
                        <a:buNone/>
                      </a:pPr>
                      <a:r>
                        <a:rPr lang="en-US" sz="850" b="1" dirty="0">
                          <a:solidFill>
                            <a:srgbClr val="CFCBBF"/>
                          </a:solidFill>
                          <a:latin typeface="Raleway" pitchFamily="34" charset="0"/>
                          <a:ea typeface="Raleway" pitchFamily="34" charset="-122"/>
                          <a:cs typeface="Raleway" pitchFamily="34" charset="-120"/>
                        </a:rPr>
                        <a:t>Phase</a:t>
                      </a:r>
                      <a:endParaRPr lang="en-US" sz="850" dirty="0">
                        <a:latin typeface="Raleway" charset="0"/>
                        <a:ea typeface="Raleway" charset="0"/>
                        <a:cs typeface="Raleway" charset="0"/>
                      </a:endParaRPr>
                    </a:p>
                  </a:txBody>
                  <a:tcPr marL="112512" marR="112512"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b="1" dirty="0">
                          <a:solidFill>
                            <a:srgbClr val="CFCBBF"/>
                          </a:solidFill>
                          <a:latin typeface="Raleway" pitchFamily="34" charset="0"/>
                          <a:ea typeface="Raleway" pitchFamily="34" charset="-122"/>
                          <a:cs typeface="Raleway" pitchFamily="34" charset="-120"/>
                        </a:rPr>
                        <a:t>Deliverable</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b="1" dirty="0">
                          <a:solidFill>
                            <a:srgbClr val="CFCBBF"/>
                          </a:solidFill>
                          <a:latin typeface="Raleway" pitchFamily="34" charset="0"/>
                          <a:ea typeface="Raleway" pitchFamily="34" charset="-122"/>
                          <a:cs typeface="Raleway" pitchFamily="34" charset="-120"/>
                        </a:rPr>
                        <a:t>Quality Gate</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371267">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Phase 1</a:t>
                      </a:r>
                      <a:endParaRPr lang="en-US" sz="850" dirty="0">
                        <a:latin typeface="Raleway" charset="0"/>
                        <a:ea typeface="Raleway" charset="0"/>
                        <a:cs typeface="Raleway" charset="0"/>
                      </a:endParaRPr>
                    </a:p>
                  </a:txBody>
                  <a:tcPr marL="112512" marR="112512"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Auth API + User Management + DB Schema</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80% unit test coverage</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371267">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Phase 2</a:t>
                      </a:r>
                      <a:endParaRPr lang="en-US" sz="850" dirty="0">
                        <a:latin typeface="Raleway" charset="0"/>
                        <a:ea typeface="Raleway" charset="0"/>
                        <a:cs typeface="Raleway" charset="0"/>
                      </a:endParaRPr>
                    </a:p>
                  </a:txBody>
                  <a:tcPr marL="112512" marR="112512"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Room Management + Reservations + Check-in/out</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Integration tests passing</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371267">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Phase 3</a:t>
                      </a:r>
                      <a:endParaRPr lang="en-US" sz="850" dirty="0">
                        <a:latin typeface="Raleway" charset="0"/>
                        <a:ea typeface="Raleway" charset="0"/>
                        <a:cs typeface="Raleway" charset="0"/>
                      </a:endParaRPr>
                    </a:p>
                  </a:txBody>
                  <a:tcPr marL="112512" marR="112512"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Billing + Invoicing + Housekeeping + Maintenance</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E2E user journeys passing</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r h="228892">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Phase 4</a:t>
                      </a:r>
                      <a:endParaRPr lang="en-US" sz="850" dirty="0">
                        <a:latin typeface="Raleway" charset="0"/>
                        <a:ea typeface="Raleway" charset="0"/>
                        <a:cs typeface="Raleway" charset="0"/>
                      </a:endParaRPr>
                    </a:p>
                  </a:txBody>
                  <a:tcPr marL="112512" marR="112512" marT="6350" marB="6350" anchor="ctr">
                    <a:lnL w="12700" cap="flat" cmpd="sng" algn="ctr">
                      <a:solidFill>
                        <a:srgbClr val="525253"/>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Full system on production infrastructure</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1B1C1D"/>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c>
                  <a:txBody>
                    <a:bodyPr/>
                    <a:lstStyle/>
                    <a:p>
                      <a:pPr indent="0" marL="0">
                        <a:buNone/>
                      </a:pPr>
                      <a:r>
                        <a:rPr lang="en-US" sz="850" dirty="0">
                          <a:solidFill>
                            <a:srgbClr val="CFCBBF"/>
                          </a:solidFill>
                          <a:latin typeface="Raleway" pitchFamily="34" charset="0"/>
                          <a:ea typeface="Raleway" pitchFamily="34" charset="-122"/>
                          <a:cs typeface="Raleway" pitchFamily="34" charset="-120"/>
                        </a:rPr>
                        <a:t>99% uptime SLA verified</a:t>
                      </a:r>
                      <a:endParaRPr lang="en-US" sz="850" dirty="0">
                        <a:latin typeface="Raleway" charset="0"/>
                        <a:ea typeface="Raleway" charset="0"/>
                        <a:cs typeface="Raleway" charset="0"/>
                      </a:endParaRPr>
                    </a:p>
                  </a:txBody>
                  <a:tcPr marL="112512" marR="112512" marT="6350" marB="6350" anchor="ctr">
                    <a:lnL w="12700" cap="flat" cmpd="sng" algn="ctr">
                      <a:solidFill>
                        <a:srgbClr val="1B1C1D"/>
                      </a:solidFill>
                      <a:prstDash val="solid"/>
                      <a:round/>
                      <a:headEnd type="none" w="med" len="med"/>
                      <a:tailEnd type="none" w="med" len="med"/>
                    </a:lnL>
                    <a:lnR w="12700" cap="flat" cmpd="sng" algn="ctr">
                      <a:solidFill>
                        <a:srgbClr val="525253"/>
                      </a:solidFill>
                      <a:prstDash val="solid"/>
                      <a:round/>
                      <a:headEnd type="none" w="med" len="med"/>
                      <a:tailEnd type="none" w="med" len="med"/>
                    </a:lnR>
                    <a:lnT w="12700" cap="flat" cmpd="sng" algn="ctr">
                      <a:solidFill>
                        <a:srgbClr val="525253"/>
                      </a:solidFill>
                      <a:prstDash val="solid"/>
                      <a:round/>
                      <a:headEnd type="none" w="med" len="med"/>
                      <a:tailEnd type="none" w="med" len="med"/>
                    </a:lnT>
                    <a:lnB w="12700" cap="flat" cmpd="sng" algn="ctr">
                      <a:solidFill>
                        <a:srgbClr val="525253"/>
                      </a:solidFill>
                      <a:prstDash val="solid"/>
                      <a:round/>
                      <a:headEnd type="none" w="med" len="med"/>
                      <a:tailEnd type="none" w="med" len="med"/>
                    </a:lnB>
                    <a:solidFill>
                      <a:srgbClr val="1B1C1D"/>
                    </a:solidFill>
                  </a:tcPr>
                </a:tc>
              </a:tr>
            </a:tbl>
          </a:graphicData>
        </a:graphic>
      </p:graphicFrame>
      <p:sp>
        <p:nvSpPr>
          <p:cNvPr id="30" name="Text 26"/>
          <p:cNvSpPr/>
          <p:nvPr/>
        </p:nvSpPr>
        <p:spPr>
          <a:xfrm>
            <a:off x="6239413" y="3858617"/>
            <a:ext cx="5238619" cy="175816"/>
          </a:xfrm>
          <a:prstGeom prst="rect">
            <a:avLst/>
          </a:prstGeom>
          <a:noFill/>
          <a:ln/>
        </p:spPr>
        <p:txBody>
          <a:bodyPr wrap="none" lIns="0" tIns="0" rIns="0" bIns="0" rtlCol="0" anchor="t"/>
          <a:lstStyle/>
          <a:p>
            <a:pPr algn="l" indent="0" marL="0">
              <a:lnSpc>
                <a:spcPct val="104000"/>
              </a:lnSpc>
              <a:buNone/>
            </a:pPr>
            <a:r>
              <a:rPr lang="en-US" sz="1100" dirty="0">
                <a:solidFill>
                  <a:srgbClr val="F2E782"/>
                </a:solidFill>
                <a:latin typeface="Prata" pitchFamily="34" charset="0"/>
                <a:ea typeface="Prata" pitchFamily="34" charset="-122"/>
                <a:cs typeface="Prata" pitchFamily="34" charset="-120"/>
              </a:rPr>
              <a:t>Key Technical Risks &amp; Mitigations</a:t>
            </a:r>
            <a:endParaRPr lang="en-US" sz="1100" dirty="0"/>
          </a:p>
        </p:txBody>
      </p:sp>
      <p:sp>
        <p:nvSpPr>
          <p:cNvPr id="31" name="Text 27"/>
          <p:cNvSpPr/>
          <p:nvPr/>
        </p:nvSpPr>
        <p:spPr>
          <a:xfrm>
            <a:off x="6239413" y="4095948"/>
            <a:ext cx="5238619" cy="760611"/>
          </a:xfrm>
          <a:prstGeom prst="rect">
            <a:avLst/>
          </a:prstGeom>
          <a:noFill/>
          <a:ln/>
        </p:spPr>
        <p:txBody>
          <a:bodyPr wrap="square" lIns="0" tIns="45004" rIns="0" bIns="0" rtlCol="0" anchor="t">
            <a:normAutofit/>
          </a:bodyPr>
          <a:lstStyle/>
          <a:p>
            <a:pPr algn="l" marL="172720" indent="-172720">
              <a:lnSpc>
                <a:spcPct val="103000"/>
              </a:lnSpc>
              <a:buSzPct val="100000"/>
              <a:buChar char="•"/>
            </a:pPr>
            <a:r>
              <a:rPr lang="en-US" sz="850" b="1" dirty="0">
                <a:solidFill>
                  <a:srgbClr val="CFCBBF"/>
                </a:solidFill>
                <a:latin typeface="Raleway Bold" pitchFamily="34" charset="0"/>
                <a:ea typeface="Raleway Bold" pitchFamily="34" charset="-122"/>
                <a:cs typeface="Raleway Bold" pitchFamily="34" charset="-120"/>
              </a:rPr>
              <a:t>Concurrency Conflicts:</a:t>
            </a:r>
            <a:pPr algn="l" marL="172720" indent="-172720">
              <a:lnSpc>
                <a:spcPct val="103000"/>
              </a:lnSpc>
              <a:buSzPct val="100000"/>
              <a:buChar char="•"/>
            </a:pPr>
            <a:r>
              <a:rPr lang="en-US" sz="850" dirty="0">
                <a:solidFill>
                  <a:srgbClr val="CFCBBF"/>
                </a:solidFill>
                <a:latin typeface="Raleway" pitchFamily="34" charset="0"/>
                <a:ea typeface="Raleway" pitchFamily="34" charset="-122"/>
                <a:cs typeface="Raleway" pitchFamily="34" charset="-120"/>
              </a:rPr>
              <a:t> Optimistic locking on room documents prevents double-booking under simultaneous requests</a:t>
            </a:r>
            <a:endParaRPr lang="en-US" sz="850" dirty="0"/>
          </a:p>
          <a:p>
            <a:pPr algn="l" marL="172720" indent="-172720">
              <a:lnSpc>
                <a:spcPct val="103000"/>
              </a:lnSpc>
              <a:buSzPct val="100000"/>
              <a:buChar char="•"/>
            </a:pPr>
            <a:r>
              <a:rPr lang="en-US" sz="850" b="1" dirty="0">
                <a:solidFill>
                  <a:srgbClr val="CFCBBF"/>
                </a:solidFill>
                <a:latin typeface="Raleway Bold" pitchFamily="34" charset="0"/>
                <a:ea typeface="Raleway Bold" pitchFamily="34" charset="-122"/>
                <a:cs typeface="Raleway Bold" pitchFamily="34" charset="-120"/>
              </a:rPr>
              <a:t>Payment Failures:</a:t>
            </a:r>
            <a:pPr algn="l" marL="172720" indent="-172720">
              <a:lnSpc>
                <a:spcPct val="103000"/>
              </a:lnSpc>
              <a:buSzPct val="100000"/>
              <a:buChar char="•"/>
            </a:pPr>
            <a:r>
              <a:rPr lang="en-US" sz="850" dirty="0">
                <a:solidFill>
                  <a:srgbClr val="CFCBBF"/>
                </a:solidFill>
                <a:latin typeface="Raleway" pitchFamily="34" charset="0"/>
                <a:ea typeface="Raleway" pitchFamily="34" charset="-122"/>
                <a:cs typeface="Raleway" pitchFamily="34" charset="-120"/>
              </a:rPr>
              <a:t> Idempotency keys on payment API calls prevent duplicate charges on retry</a:t>
            </a:r>
            <a:endParaRPr lang="en-US" sz="850" dirty="0"/>
          </a:p>
          <a:p>
            <a:pPr algn="l" marL="172720" indent="-172720">
              <a:lnSpc>
                <a:spcPct val="103000"/>
              </a:lnSpc>
              <a:buSzPct val="100000"/>
              <a:buChar char="•"/>
            </a:pPr>
            <a:r>
              <a:rPr lang="en-US" sz="850" b="1" dirty="0">
                <a:solidFill>
                  <a:srgbClr val="CFCBBF"/>
                </a:solidFill>
                <a:latin typeface="Raleway Bold" pitchFamily="34" charset="0"/>
                <a:ea typeface="Raleway Bold" pitchFamily="34" charset="-122"/>
                <a:cs typeface="Raleway Bold" pitchFamily="34" charset="-120"/>
              </a:rPr>
              <a:t>Data Loss:</a:t>
            </a:r>
            <a:pPr algn="l" marL="172720" indent="-172720">
              <a:lnSpc>
                <a:spcPct val="103000"/>
              </a:lnSpc>
              <a:buSzPct val="100000"/>
              <a:buChar char="•"/>
            </a:pPr>
            <a:r>
              <a:rPr lang="en-US" sz="850" dirty="0">
                <a:solidFill>
                  <a:srgbClr val="CFCBBF"/>
                </a:solidFill>
                <a:latin typeface="Raleway" pitchFamily="34" charset="0"/>
                <a:ea typeface="Raleway" pitchFamily="34" charset="-122"/>
                <a:cs typeface="Raleway" pitchFamily="34" charset="-120"/>
              </a:rPr>
              <a:t> MongoDB Atlas automated daily snapshots with 7-day point-in-time recovery</a:t>
            </a:r>
            <a:endParaRPr lang="en-US" sz="850" dirty="0"/>
          </a:p>
          <a:p>
            <a:pPr algn="l" marL="172720" indent="-172720">
              <a:lnSpc>
                <a:spcPct val="103000"/>
              </a:lnSpc>
              <a:buSzPct val="100000"/>
              <a:buChar char="•"/>
            </a:pPr>
            <a:r>
              <a:rPr lang="en-US" sz="850" b="1" dirty="0">
                <a:solidFill>
                  <a:srgbClr val="CFCBBF"/>
                </a:solidFill>
                <a:latin typeface="Raleway Bold" pitchFamily="34" charset="0"/>
                <a:ea typeface="Raleway Bold" pitchFamily="34" charset="-122"/>
                <a:cs typeface="Raleway Bold" pitchFamily="34" charset="-120"/>
              </a:rPr>
              <a:t>Scope Creep:</a:t>
            </a:r>
            <a:pPr algn="l" marL="172720" indent="-172720">
              <a:lnSpc>
                <a:spcPct val="103000"/>
              </a:lnSpc>
              <a:buSzPct val="100000"/>
              <a:buChar char="•"/>
            </a:pPr>
            <a:r>
              <a:rPr lang="en-US" sz="850" dirty="0">
                <a:solidFill>
                  <a:srgbClr val="CFCBBF"/>
                </a:solidFill>
                <a:latin typeface="Raleway" pitchFamily="34" charset="0"/>
                <a:ea typeface="Raleway" pitchFamily="34" charset="-122"/>
                <a:cs typeface="Raleway" pitchFamily="34" charset="-120"/>
              </a:rPr>
              <a:t> Strict phase gate reviews with documented change control process</a:t>
            </a:r>
            <a:endParaRPr lang="en-US" sz="850" dirty="0"/>
          </a:p>
        </p:txBody>
      </p:sp>
      <p:sp>
        <p:nvSpPr>
          <p:cNvPr id="32" name="Shape 28"/>
          <p:cNvSpPr/>
          <p:nvPr/>
        </p:nvSpPr>
        <p:spPr>
          <a:xfrm>
            <a:off x="720012" y="5826224"/>
            <a:ext cx="10751670" cy="451445"/>
          </a:xfrm>
          <a:prstGeom prst="roundRect">
            <a:avLst>
              <a:gd name="adj" fmla="val 3738"/>
            </a:avLst>
          </a:prstGeom>
          <a:solidFill>
            <a:srgbClr val="71660F"/>
          </a:solidFill>
          <a:ln/>
        </p:spPr>
      </p:sp>
      <p:pic>
        <p:nvPicPr>
          <p:cNvPr id="33" name="Image 1" descr="preencoded.png">    </p:cNvPr>
          <p:cNvPicPr>
            <a:picLocks noChangeAspect="1"/>
          </p:cNvPicPr>
          <p:nvPr/>
        </p:nvPicPr>
        <p:blipFill>
          <a:blip r:embed="rId2"/>
          <a:stretch>
            <a:fillRect/>
          </a:stretch>
        </p:blipFill>
        <p:spPr>
          <a:xfrm>
            <a:off x="832524" y="5915819"/>
            <a:ext cx="140589" cy="112514"/>
          </a:xfrm>
          <a:prstGeom prst="rect">
            <a:avLst/>
          </a:prstGeom>
        </p:spPr>
      </p:pic>
      <p:sp>
        <p:nvSpPr>
          <p:cNvPr id="34" name="Text 29"/>
          <p:cNvSpPr/>
          <p:nvPr/>
        </p:nvSpPr>
        <p:spPr>
          <a:xfrm>
            <a:off x="1085624" y="5915819"/>
            <a:ext cx="10273547" cy="278408"/>
          </a:xfrm>
          <a:prstGeom prst="rect">
            <a:avLst/>
          </a:prstGeom>
          <a:noFill/>
          <a:ln/>
        </p:spPr>
        <p:txBody>
          <a:bodyPr wrap="square" lIns="0" tIns="0" rIns="0" bIns="0" rtlCol="0" anchor="t">
            <a:normAutofit/>
          </a:bodyPr>
          <a:lstStyle/>
          <a:p>
            <a:pPr algn="l" indent="0" marL="0">
              <a:lnSpc>
                <a:spcPct val="103000"/>
              </a:lnSpc>
              <a:buNone/>
            </a:pPr>
            <a:r>
              <a:rPr lang="en-US" sz="850" b="1" dirty="0">
                <a:solidFill>
                  <a:srgbClr val="FFFFFF"/>
                </a:solidFill>
                <a:latin typeface="Raleway Bold" pitchFamily="34" charset="0"/>
                <a:ea typeface="Raleway Bold" pitchFamily="34" charset="-122"/>
                <a:cs typeface="Raleway Bold" pitchFamily="34" charset="-120"/>
              </a:rPr>
              <a:t>Document Control:</a:t>
            </a:r>
            <a:pPr algn="l" indent="0" marL="0">
              <a:lnSpc>
                <a:spcPct val="103000"/>
              </a:lnSpc>
              <a:buNone/>
            </a:pPr>
            <a:r>
              <a:rPr lang="en-US" sz="850" dirty="0">
                <a:solidFill>
                  <a:srgbClr val="FFFFFF"/>
                </a:solidFill>
                <a:latin typeface="Raleway" pitchFamily="34" charset="0"/>
                <a:ea typeface="Raleway" pitchFamily="34" charset="-122"/>
                <a:cs typeface="Raleway" pitchFamily="34" charset="-120"/>
              </a:rPr>
              <a:t> This SRS v1.0 is the baseline specification for LuxuryStay HMS. All subsequent change requests must be evaluated against this document, assigned a version increment, and approved by the project lead before implementation begins.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2026-09-01T05:58:03Z</dcterms:created>
  <dcterms:modified xsi:type="dcterms:W3CDTF">2026-09-01T05:58:03Z</dcterms:modified>
</cp:coreProperties>
</file>